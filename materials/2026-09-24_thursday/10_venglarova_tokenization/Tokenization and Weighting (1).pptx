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5"/>
  </p:notesMasterIdLst>
  <p:sldIdLst>
    <p:sldId id="256" r:id="rId2"/>
    <p:sldId id="257" r:id="rId3"/>
    <p:sldId id="317" r:id="rId4"/>
    <p:sldId id="318" r:id="rId5"/>
    <p:sldId id="258" r:id="rId6"/>
    <p:sldId id="319" r:id="rId7"/>
    <p:sldId id="259" r:id="rId8"/>
    <p:sldId id="320" r:id="rId9"/>
    <p:sldId id="261" r:id="rId10"/>
    <p:sldId id="262" r:id="rId11"/>
    <p:sldId id="263" r:id="rId12"/>
    <p:sldId id="264" r:id="rId13"/>
    <p:sldId id="265" r:id="rId14"/>
    <p:sldId id="266" r:id="rId15"/>
    <p:sldId id="321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322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11" r:id="rId59"/>
    <p:sldId id="312" r:id="rId60"/>
    <p:sldId id="313" r:id="rId61"/>
    <p:sldId id="316" r:id="rId62"/>
    <p:sldId id="314" r:id="rId63"/>
    <p:sldId id="315" r:id="rId64"/>
  </p:sldIdLst>
  <p:sldSz cx="9144000" cy="5143500" type="screen16x9"/>
  <p:notesSz cx="6858000" cy="9144000"/>
  <p:embeddedFontLst>
    <p:embeddedFont>
      <p:font typeface="Raleway" pitchFamily="2" charset="-18"/>
      <p:regular r:id="rId66"/>
      <p:bold r:id="rId67"/>
      <p:italic r:id="rId68"/>
      <p:boldItalic r:id="rId69"/>
    </p:embeddedFont>
    <p:embeddedFont>
      <p:font typeface="Roboto" panose="02000000000000000000" pitchFamily="2" charset="0"/>
      <p:regular r:id="rId70"/>
      <p:bold r:id="rId71"/>
      <p:italic r:id="rId72"/>
      <p:boldItalic r:id="rId73"/>
    </p:embeddedFont>
    <p:embeddedFont>
      <p:font typeface="Roboto Mono" panose="00000009000000000000" pitchFamily="49" charset="0"/>
      <p:regular r:id="rId74"/>
      <p:bold r:id="rId75"/>
      <p:italic r:id="rId76"/>
      <p:boldItalic r:id="rId77"/>
    </p:embeddedFont>
    <p:embeddedFont>
      <p:font typeface="Source Sans Pro" panose="020B0503030403020204" pitchFamily="34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4bc0f500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4bc0f500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4bc0f500d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4bc0f500d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4bc0f500d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4bc0f500d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73b5a5357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73b5a5357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73b5a535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73b5a535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73b5a5357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73b5a5357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3c50a8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3c50a8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4bc0f50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4bc0f50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4bc0f50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4bc0f50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4bc0f500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4bc0f500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4bc0f500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4bc0f500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4bc0f500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4bc0f500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4bc0f50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4bc0f50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bc0f500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4bc0f500d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c8db989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c8db989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bc0f500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4bc0f500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4bc0f500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4bc0f500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4bc0f500d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4bc0f500d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bc0f500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4bc0f500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4bc0f500d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4bc0f500d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bc0f500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4bc0f500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4bc0f500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4bc0f500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4bc0f50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4bc0f50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4bc0f500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4bc0f500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4bc0f500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4bc0f500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4bc0f500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4bc0f500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bc0f500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4bc0f500d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4bc0f500d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4bc0f500d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4bc0f500d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4bc0f500d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8eb2a380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8eb2a380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bc0f500d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4bc0f500d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bc0f500d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4bc0f500d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8eb2a380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8eb2a380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4bc0f500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4bc0f500d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8eb2a380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8eb2a3804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8eb2a380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8eb2a380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8eb2a380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8eb2a380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8eb2a380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8eb2a380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8eb2a380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8eb2a380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8eb2a380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8eb2a380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4bc0f500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4bc0f500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8eb2a380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8eb2a380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4bc0f500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64bc0f500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8eb2a380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8eb2a380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4bc0f500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64bc0f500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4bc0f500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4bc0f500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4bc0f500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64bc0f500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4bc0f500d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64bc0f500d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4bc0f500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4bc0f500d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4bc0f500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4bc0f500d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4891d86cad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4891d86cad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4bc0f500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4bc0f500d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4bc0f500d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64bc0f500d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4bc0f500d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64bc0f500d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4bc0f500d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64bc0f500d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rgbClr val="D9D2E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learn/llm-course/chapter6/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understanding-tf-idf-term-frequency-inverse-document-frequency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maartengr.github.io/BERTopic/getting_started/vectorizers/vectorizers.html" TargetMode="External"/><Relationship Id="rId7" Type="http://schemas.openxmlformats.org/officeDocument/2006/relationships/hyperlink" Target="https://www.geeksforgeeks.org/machine-learning/understanding-tf-idf-term-frequency-inverse-document-frequency/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codecademy.com/enrolled/courses/intro-to-language-models-in-python" TargetMode="External"/><Relationship Id="rId5" Type="http://schemas.openxmlformats.org/officeDocument/2006/relationships/hyperlink" Target="https://huggingface.co/learn/llm-course/chapter6/6" TargetMode="External"/><Relationship Id="rId4" Type="http://schemas.openxmlformats.org/officeDocument/2006/relationships/hyperlink" Target="https://maartengr.github.io/BERTopic/getting_started/ctfidf/ctfidf.html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Tokenization and Weighting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Klara Venglarova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8468" y="4115119"/>
            <a:ext cx="1003651" cy="8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Outline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Big Picture: Where are we and why?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Text Pre-Processing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Tokens and Tokenization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Frequencies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Bag-of-Words Representation and CountVectorizer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TF-IDF and c-TF-IDF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C747-7DD9-399C-C1EA-6C26CA69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" dirty="0"/>
              <a:t>Where are we and Why?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0B90A-AE88-36C2-1E0E-690E41795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303423"/>
            <a:ext cx="8520600" cy="2265451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bg2"/>
                </a:solidFill>
              </a:rPr>
              <a:t>BUT: </a:t>
            </a:r>
            <a:r>
              <a:rPr lang="en-US" sz="2400" dirty="0">
                <a:solidFill>
                  <a:schemeClr val="bg2"/>
                </a:solidFill>
              </a:rPr>
              <a:t>Machine-learning models perform mathematical operations on numerical representations, so we need to transform our text into numbers</a:t>
            </a:r>
            <a:endParaRPr lang="cs-CZ" sz="2400" dirty="0">
              <a:solidFill>
                <a:schemeClr val="bg2"/>
              </a:solidFill>
            </a:endParaRPr>
          </a:p>
          <a:p>
            <a:r>
              <a:rPr lang="cs-CZ" sz="2400" dirty="0" err="1">
                <a:solidFill>
                  <a:schemeClr val="bg2"/>
                </a:solidFill>
              </a:rPr>
              <a:t>This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involves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several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steps</a:t>
            </a:r>
            <a:r>
              <a:rPr lang="cs-CZ" sz="2400" dirty="0">
                <a:solidFill>
                  <a:schemeClr val="bg2"/>
                </a:solidFill>
              </a:rPr>
              <a:t>: (</a:t>
            </a:r>
            <a:r>
              <a:rPr lang="cs-CZ" sz="2400" dirty="0" err="1">
                <a:solidFill>
                  <a:schemeClr val="bg2"/>
                </a:solidFill>
              </a:rPr>
              <a:t>next</a:t>
            </a:r>
            <a:r>
              <a:rPr lang="cs-CZ" sz="2400" dirty="0">
                <a:solidFill>
                  <a:schemeClr val="bg2"/>
                </a:solidFill>
              </a:rPr>
              <a:t> slide)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0E99BA-5FB8-A7BD-DAB7-52A58AE2680D}"/>
              </a:ext>
            </a:extLst>
          </p:cNvPr>
          <p:cNvSpPr/>
          <p:nvPr/>
        </p:nvSpPr>
        <p:spPr>
          <a:xfrm>
            <a:off x="922564" y="1208314"/>
            <a:ext cx="1583871" cy="9552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 err="1">
                <a:solidFill>
                  <a:sysClr val="windowText" lastClr="000000"/>
                </a:solidFill>
              </a:rPr>
              <a:t>Texts</a:t>
            </a:r>
            <a:endParaRPr lang="cs-CZ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8CD150-1673-CB9C-91DB-B2DA8E1AE153}"/>
              </a:ext>
            </a:extLst>
          </p:cNvPr>
          <p:cNvSpPr/>
          <p:nvPr/>
        </p:nvSpPr>
        <p:spPr>
          <a:xfrm>
            <a:off x="6164036" y="1314450"/>
            <a:ext cx="1992086" cy="849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ysClr val="windowText" lastClr="000000"/>
                </a:solidFill>
              </a:rPr>
              <a:t>Model</a:t>
            </a:r>
            <a:endParaRPr lang="cs-CZ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DFA1C0-F7F5-65BC-28D8-8DB706E730AE}"/>
              </a:ext>
            </a:extLst>
          </p:cNvPr>
          <p:cNvCxnSpPr/>
          <p:nvPr/>
        </p:nvCxnSpPr>
        <p:spPr>
          <a:xfrm>
            <a:off x="2857500" y="1730826"/>
            <a:ext cx="301262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92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0F7A-13BF-27A7-0373-E146F402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3BB28-36F4-4A61-A405-F9743BAAA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90007"/>
            <a:ext cx="8520600" cy="2878868"/>
          </a:xfrm>
        </p:spPr>
        <p:txBody>
          <a:bodyPr>
            <a:normAutofit/>
          </a:bodyPr>
          <a:lstStyle/>
          <a:p>
            <a:r>
              <a:rPr lang="cs-CZ" sz="2400" b="1" dirty="0" err="1">
                <a:solidFill>
                  <a:schemeClr val="bg2"/>
                </a:solidFill>
              </a:rPr>
              <a:t>Pre-processing</a:t>
            </a:r>
            <a:r>
              <a:rPr lang="cs-CZ" sz="2400" dirty="0">
                <a:solidFill>
                  <a:schemeClr val="bg2"/>
                </a:solidFill>
              </a:rPr>
              <a:t> and </a:t>
            </a:r>
            <a:r>
              <a:rPr lang="cs-CZ" sz="2400" b="1" dirty="0" err="1">
                <a:solidFill>
                  <a:schemeClr val="bg2"/>
                </a:solidFill>
              </a:rPr>
              <a:t>tokenization</a:t>
            </a:r>
            <a:r>
              <a:rPr lang="cs-CZ" sz="2400" dirty="0">
                <a:solidFill>
                  <a:schemeClr val="bg2"/>
                </a:solidFill>
              </a:rPr>
              <a:t> (</a:t>
            </a:r>
            <a:r>
              <a:rPr lang="cs-CZ" sz="2400" dirty="0" err="1">
                <a:solidFill>
                  <a:schemeClr val="bg2"/>
                </a:solidFill>
              </a:rPr>
              <a:t>tokenize</a:t>
            </a:r>
            <a:r>
              <a:rPr lang="cs-CZ" sz="2400" dirty="0">
                <a:solidFill>
                  <a:schemeClr val="bg2"/>
                </a:solidFill>
              </a:rPr>
              <a:t> = </a:t>
            </a:r>
            <a:r>
              <a:rPr lang="en-US" sz="2400" dirty="0">
                <a:solidFill>
                  <a:schemeClr val="bg2"/>
                </a:solidFill>
              </a:rPr>
              <a:t>turn the continuous text into smaller units such as words or </a:t>
            </a:r>
            <a:r>
              <a:rPr lang="en-US" sz="2400" dirty="0" err="1">
                <a:solidFill>
                  <a:schemeClr val="bg2"/>
                </a:solidFill>
              </a:rPr>
              <a:t>subwords</a:t>
            </a:r>
            <a:r>
              <a:rPr lang="cs-CZ" sz="2400" dirty="0">
                <a:solidFill>
                  <a:schemeClr val="bg2"/>
                </a:solidFill>
              </a:rPr>
              <a:t>)</a:t>
            </a:r>
          </a:p>
          <a:p>
            <a:r>
              <a:rPr lang="cs-CZ" sz="2400" b="1" dirty="0" err="1">
                <a:solidFill>
                  <a:schemeClr val="bg2"/>
                </a:solidFill>
              </a:rPr>
              <a:t>Vectorization</a:t>
            </a:r>
            <a:r>
              <a:rPr lang="cs-CZ" sz="2400" dirty="0">
                <a:solidFill>
                  <a:schemeClr val="bg2"/>
                </a:solidFill>
              </a:rPr>
              <a:t> = </a:t>
            </a:r>
            <a:r>
              <a:rPr lang="cs-CZ" sz="2400" dirty="0" err="1">
                <a:solidFill>
                  <a:schemeClr val="bg2"/>
                </a:solidFill>
              </a:rPr>
              <a:t>turning</a:t>
            </a:r>
            <a:r>
              <a:rPr lang="cs-CZ" sz="2400" dirty="0">
                <a:solidFill>
                  <a:schemeClr val="bg2"/>
                </a:solidFill>
              </a:rPr>
              <a:t> these </a:t>
            </a:r>
            <a:r>
              <a:rPr lang="cs-CZ" sz="2400" dirty="0" err="1">
                <a:solidFill>
                  <a:schemeClr val="bg2"/>
                </a:solidFill>
              </a:rPr>
              <a:t>units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into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numbers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br>
              <a:rPr lang="cs-CZ" sz="2400" dirty="0">
                <a:solidFill>
                  <a:schemeClr val="bg2"/>
                </a:solidFill>
              </a:rPr>
            </a:br>
            <a:r>
              <a:rPr lang="cs-CZ" sz="2400" dirty="0">
                <a:solidFill>
                  <a:schemeClr val="bg2"/>
                </a:solidFill>
              </a:rPr>
              <a:t>(</a:t>
            </a:r>
            <a:r>
              <a:rPr lang="cs-CZ" sz="2400" dirty="0" err="1">
                <a:solidFill>
                  <a:schemeClr val="bg2"/>
                </a:solidFill>
              </a:rPr>
              <a:t>vector</a:t>
            </a:r>
            <a:r>
              <a:rPr lang="cs-CZ" sz="2400" dirty="0">
                <a:solidFill>
                  <a:schemeClr val="bg2"/>
                </a:solidFill>
              </a:rPr>
              <a:t> = „list </a:t>
            </a:r>
            <a:r>
              <a:rPr lang="cs-CZ" sz="2400" dirty="0" err="1">
                <a:solidFill>
                  <a:schemeClr val="bg2"/>
                </a:solidFill>
              </a:rPr>
              <a:t>of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numbers</a:t>
            </a:r>
            <a:r>
              <a:rPr lang="cs-CZ" sz="2400" dirty="0">
                <a:solidFill>
                  <a:schemeClr val="bg2"/>
                </a:solidFill>
              </a:rPr>
              <a:t>“)</a:t>
            </a:r>
          </a:p>
          <a:p>
            <a:r>
              <a:rPr lang="cs-CZ" sz="2400" dirty="0" err="1">
                <a:solidFill>
                  <a:schemeClr val="bg2"/>
                </a:solidFill>
              </a:rPr>
              <a:t>Vectors</a:t>
            </a:r>
            <a:r>
              <a:rPr lang="cs-CZ" sz="2400" dirty="0">
                <a:solidFill>
                  <a:schemeClr val="bg2"/>
                </a:solidFill>
              </a:rPr>
              <a:t> as </a:t>
            </a:r>
            <a:r>
              <a:rPr lang="cs-CZ" sz="2400" b="1" dirty="0" err="1">
                <a:solidFill>
                  <a:schemeClr val="bg2"/>
                </a:solidFill>
              </a:rPr>
              <a:t>inputs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into</a:t>
            </a:r>
            <a:r>
              <a:rPr lang="cs-CZ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the</a:t>
            </a:r>
            <a:r>
              <a:rPr lang="cs-CZ" sz="2400" dirty="0">
                <a:solidFill>
                  <a:schemeClr val="bg2"/>
                </a:solidFill>
              </a:rPr>
              <a:t> model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A37877-B6A2-0018-E5E4-87F7AF9B5EC4}"/>
              </a:ext>
            </a:extLst>
          </p:cNvPr>
          <p:cNvSpPr/>
          <p:nvPr/>
        </p:nvSpPr>
        <p:spPr>
          <a:xfrm>
            <a:off x="914401" y="589905"/>
            <a:ext cx="1583871" cy="9552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3200" dirty="0" err="1">
                <a:solidFill>
                  <a:sysClr val="windowText" lastClr="000000"/>
                </a:solidFill>
              </a:rPr>
              <a:t>Texts</a:t>
            </a:r>
            <a:endParaRPr lang="cs-CZ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A8F478-7DD2-D74D-1E1E-258BAED9C59C}"/>
              </a:ext>
            </a:extLst>
          </p:cNvPr>
          <p:cNvSpPr/>
          <p:nvPr/>
        </p:nvSpPr>
        <p:spPr>
          <a:xfrm>
            <a:off x="6098722" y="551161"/>
            <a:ext cx="1992086" cy="849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2800" dirty="0">
                <a:solidFill>
                  <a:sysClr val="windowText" lastClr="000000"/>
                </a:solidFill>
              </a:rPr>
              <a:t>Model</a:t>
            </a:r>
            <a:endParaRPr lang="cs-CZ" dirty="0">
              <a:solidFill>
                <a:sysClr val="windowText" lastClr="0000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045D4C-2F79-1175-341C-C7825A01259C}"/>
              </a:ext>
            </a:extLst>
          </p:cNvPr>
          <p:cNvCxnSpPr/>
          <p:nvPr/>
        </p:nvCxnSpPr>
        <p:spPr>
          <a:xfrm>
            <a:off x="2792186" y="967537"/>
            <a:ext cx="301262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99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Text Pre-Processing in NLP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525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</a:pPr>
            <a:r>
              <a:rPr lang="cs" sz="2100" dirty="0">
                <a:solidFill>
                  <a:schemeClr val="accent1"/>
                </a:solidFill>
              </a:rPr>
              <a:t>Pre</a:t>
            </a:r>
            <a:r>
              <a:rPr lang="de-AT" sz="2100" dirty="0">
                <a:solidFill>
                  <a:schemeClr val="accent1"/>
                </a:solidFill>
              </a:rPr>
              <a:t>-</a:t>
            </a:r>
            <a:r>
              <a:rPr lang="cs" sz="2100" dirty="0">
                <a:solidFill>
                  <a:schemeClr val="accent1"/>
                </a:solidFill>
              </a:rPr>
              <a:t>processing is the set of steps applied to raw text to </a:t>
            </a:r>
          </a:p>
          <a:p>
            <a:pPr lvl="1" indent="-361950">
              <a:buClr>
                <a:schemeClr val="accent1"/>
              </a:buClr>
              <a:buSzPts val="21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clean</a:t>
            </a:r>
            <a:r>
              <a:rPr lang="cs" sz="2400" dirty="0">
                <a:solidFill>
                  <a:schemeClr val="accent1"/>
                </a:solidFill>
              </a:rPr>
              <a:t>, </a:t>
            </a:r>
          </a:p>
          <a:p>
            <a:pPr lvl="1" indent="-361950">
              <a:buClr>
                <a:schemeClr val="accent1"/>
              </a:buClr>
              <a:buSzPts val="21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normalize</a:t>
            </a:r>
            <a:r>
              <a:rPr lang="cs" sz="2400" dirty="0">
                <a:solidFill>
                  <a:schemeClr val="accent1"/>
                </a:solidFill>
              </a:rPr>
              <a:t>, and </a:t>
            </a:r>
          </a:p>
          <a:p>
            <a:pPr lvl="1" indent="-361950">
              <a:buClr>
                <a:schemeClr val="accent1"/>
              </a:buClr>
              <a:buSzPts val="21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standardize</a:t>
            </a:r>
            <a:r>
              <a:rPr lang="cs" sz="2400" dirty="0">
                <a:solidFill>
                  <a:schemeClr val="accent1"/>
                </a:solidFill>
              </a:rPr>
              <a:t> </a:t>
            </a:r>
          </a:p>
          <a:p>
            <a:pPr marL="95250" indent="0">
              <a:buClr>
                <a:schemeClr val="accent1"/>
              </a:buClr>
              <a:buSzPts val="2100"/>
              <a:buNone/>
            </a:pPr>
            <a:r>
              <a:rPr lang="cs" sz="2100" dirty="0">
                <a:solidFill>
                  <a:schemeClr val="accent1"/>
                </a:solidFill>
              </a:rPr>
              <a:t>it so that it can be effectively processed by NLP models.</a:t>
            </a:r>
            <a:endParaRPr sz="21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B516-8550-13CA-5EF1-F71FCAAC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" dirty="0"/>
              <a:t>Text Pre-Processing in NLP: Why?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5B70B-E53B-841A-82B5-6C3270D1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indent="-336550">
              <a:buClr>
                <a:schemeClr val="accent1"/>
              </a:buClr>
              <a:buSzPts val="1700"/>
            </a:pPr>
            <a:r>
              <a:rPr lang="cs-CZ" sz="2100" dirty="0" err="1">
                <a:solidFill>
                  <a:schemeClr val="accent1"/>
                </a:solidFill>
              </a:rPr>
              <a:t>Raw</a:t>
            </a:r>
            <a:r>
              <a:rPr lang="cs-CZ" sz="2100" dirty="0">
                <a:solidFill>
                  <a:schemeClr val="accent1"/>
                </a:solidFill>
              </a:rPr>
              <a:t> text </a:t>
            </a:r>
            <a:r>
              <a:rPr lang="cs-CZ" sz="2100" dirty="0" err="1">
                <a:solidFill>
                  <a:schemeClr val="accent1"/>
                </a:solidFill>
              </a:rPr>
              <a:t>is</a:t>
            </a:r>
            <a:r>
              <a:rPr lang="cs-CZ" sz="2100" dirty="0">
                <a:solidFill>
                  <a:schemeClr val="accent1"/>
                </a:solidFill>
              </a:rPr>
              <a:t> </a:t>
            </a:r>
            <a:r>
              <a:rPr lang="cs-CZ" sz="2100" dirty="0" err="1">
                <a:solidFill>
                  <a:schemeClr val="bg2"/>
                </a:solidFill>
              </a:rPr>
              <a:t>messy</a:t>
            </a:r>
            <a:r>
              <a:rPr lang="cs-CZ" sz="2100" dirty="0">
                <a:solidFill>
                  <a:schemeClr val="accent1"/>
                </a:solidFill>
              </a:rPr>
              <a:t>: </a:t>
            </a:r>
            <a:r>
              <a:rPr lang="cs-CZ" sz="2100" dirty="0" err="1">
                <a:solidFill>
                  <a:schemeClr val="accent1"/>
                </a:solidFill>
              </a:rPr>
              <a:t>punctuation</a:t>
            </a:r>
            <a:r>
              <a:rPr lang="cs-CZ" sz="2100" dirty="0">
                <a:solidFill>
                  <a:schemeClr val="accent1"/>
                </a:solidFill>
              </a:rPr>
              <a:t>, </a:t>
            </a:r>
            <a:r>
              <a:rPr lang="cs-CZ" sz="2100" dirty="0" err="1">
                <a:solidFill>
                  <a:schemeClr val="accent1"/>
                </a:solidFill>
              </a:rPr>
              <a:t>capitalization</a:t>
            </a:r>
            <a:r>
              <a:rPr lang="cs-CZ" sz="2100" dirty="0">
                <a:solidFill>
                  <a:schemeClr val="accent1"/>
                </a:solidFill>
              </a:rPr>
              <a:t>, </a:t>
            </a:r>
            <a:r>
              <a:rPr lang="cs-CZ" sz="2100" dirty="0" err="1">
                <a:solidFill>
                  <a:schemeClr val="accent1"/>
                </a:solidFill>
              </a:rPr>
              <a:t>typos</a:t>
            </a:r>
            <a:r>
              <a:rPr lang="cs-CZ" sz="2100" dirty="0">
                <a:solidFill>
                  <a:schemeClr val="accent1"/>
                </a:solidFill>
              </a:rPr>
              <a:t>, </a:t>
            </a:r>
            <a:r>
              <a:rPr lang="cs-CZ" sz="2100" dirty="0" err="1">
                <a:solidFill>
                  <a:schemeClr val="accent1"/>
                </a:solidFill>
              </a:rPr>
              <a:t>numbers</a:t>
            </a:r>
            <a:r>
              <a:rPr lang="cs-CZ" sz="2100" dirty="0">
                <a:solidFill>
                  <a:schemeClr val="accent1"/>
                </a:solidFill>
              </a:rPr>
              <a:t>, </a:t>
            </a:r>
            <a:r>
              <a:rPr lang="cs-CZ" sz="2100" dirty="0" err="1">
                <a:solidFill>
                  <a:schemeClr val="accent1"/>
                </a:solidFill>
              </a:rPr>
              <a:t>stopwords</a:t>
            </a:r>
            <a:r>
              <a:rPr lang="cs-CZ" sz="2100" dirty="0">
                <a:solidFill>
                  <a:schemeClr val="accent1"/>
                </a:solidFill>
              </a:rPr>
              <a:t>, </a:t>
            </a:r>
            <a:r>
              <a:rPr lang="cs-CZ" sz="2100" dirty="0" err="1">
                <a:solidFill>
                  <a:schemeClr val="accent1"/>
                </a:solidFill>
              </a:rPr>
              <a:t>emojis</a:t>
            </a:r>
            <a:r>
              <a:rPr lang="cs-CZ" sz="2100" dirty="0">
                <a:solidFill>
                  <a:schemeClr val="accent1"/>
                </a:solidFill>
              </a:rPr>
              <a:t>.</a:t>
            </a:r>
          </a:p>
          <a:p>
            <a:pPr indent="-336550">
              <a:buClr>
                <a:schemeClr val="accent1"/>
              </a:buClr>
              <a:buSzPts val="1700"/>
            </a:pPr>
            <a:r>
              <a:rPr lang="cs-CZ" sz="2100" dirty="0" err="1">
                <a:solidFill>
                  <a:schemeClr val="accent1"/>
                </a:solidFill>
              </a:rPr>
              <a:t>Pre-processing</a:t>
            </a:r>
            <a:r>
              <a:rPr lang="cs-CZ" sz="2100" dirty="0">
                <a:solidFill>
                  <a:schemeClr val="accent1"/>
                </a:solidFill>
              </a:rPr>
              <a:t> </a:t>
            </a:r>
            <a:r>
              <a:rPr lang="cs-CZ" sz="2100" dirty="0" err="1">
                <a:solidFill>
                  <a:schemeClr val="accent1"/>
                </a:solidFill>
              </a:rPr>
              <a:t>helps</a:t>
            </a:r>
            <a:r>
              <a:rPr lang="cs-CZ" sz="2100" dirty="0">
                <a:solidFill>
                  <a:schemeClr val="accent1"/>
                </a:solidFill>
              </a:rPr>
              <a:t>:</a:t>
            </a:r>
          </a:p>
          <a:p>
            <a:pPr lvl="1" indent="-336550">
              <a:buClr>
                <a:schemeClr val="accent1"/>
              </a:buClr>
              <a:buSzPts val="1700"/>
            </a:pPr>
            <a:r>
              <a:rPr lang="cs-CZ" sz="2200" b="1" dirty="0" err="1">
                <a:solidFill>
                  <a:schemeClr val="accent1"/>
                </a:solidFill>
              </a:rPr>
              <a:t>Reduce</a:t>
            </a:r>
            <a:r>
              <a:rPr lang="cs-CZ" sz="2200" b="1" dirty="0">
                <a:solidFill>
                  <a:schemeClr val="accent1"/>
                </a:solidFill>
              </a:rPr>
              <a:t> </a:t>
            </a:r>
            <a:r>
              <a:rPr lang="cs-CZ" sz="2200" b="1" dirty="0" err="1">
                <a:solidFill>
                  <a:schemeClr val="accent1"/>
                </a:solidFill>
              </a:rPr>
              <a:t>noise</a:t>
            </a:r>
            <a:r>
              <a:rPr lang="cs-CZ" sz="2200" b="1" dirty="0">
                <a:solidFill>
                  <a:schemeClr val="accent1"/>
                </a:solidFill>
              </a:rPr>
              <a:t> </a:t>
            </a:r>
            <a:r>
              <a:rPr lang="cs-CZ" sz="2200" dirty="0">
                <a:solidFill>
                  <a:schemeClr val="accent1"/>
                </a:solidFill>
              </a:rPr>
              <a:t>→ </a:t>
            </a:r>
            <a:r>
              <a:rPr lang="cs-CZ" sz="2200" dirty="0" err="1">
                <a:solidFill>
                  <a:schemeClr val="accent1"/>
                </a:solidFill>
              </a:rPr>
              <a:t>fewer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  <a:r>
              <a:rPr lang="cs-CZ" sz="2200" dirty="0" err="1">
                <a:solidFill>
                  <a:schemeClr val="accent1"/>
                </a:solidFill>
              </a:rPr>
              <a:t>meaningless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  <a:r>
              <a:rPr lang="cs-CZ" sz="2200" dirty="0" err="1">
                <a:solidFill>
                  <a:schemeClr val="accent1"/>
                </a:solidFill>
              </a:rPr>
              <a:t>tokens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</a:p>
          <a:p>
            <a:pPr lvl="1" indent="-336550">
              <a:buClr>
                <a:schemeClr val="accent1"/>
              </a:buClr>
              <a:buSzPts val="1700"/>
            </a:pPr>
            <a:r>
              <a:rPr lang="cs-CZ" sz="2200" b="1" dirty="0" err="1">
                <a:solidFill>
                  <a:schemeClr val="accent1"/>
                </a:solidFill>
              </a:rPr>
              <a:t>Normalize</a:t>
            </a:r>
            <a:r>
              <a:rPr lang="cs-CZ" sz="2200" b="1" dirty="0">
                <a:solidFill>
                  <a:schemeClr val="accent1"/>
                </a:solidFill>
              </a:rPr>
              <a:t> text </a:t>
            </a:r>
            <a:r>
              <a:rPr lang="cs-CZ" sz="2200" dirty="0">
                <a:solidFill>
                  <a:schemeClr val="accent1"/>
                </a:solidFill>
              </a:rPr>
              <a:t>→ make </a:t>
            </a:r>
            <a:r>
              <a:rPr lang="cs-CZ" sz="2200" dirty="0" err="1">
                <a:solidFill>
                  <a:schemeClr val="accent1"/>
                </a:solidFill>
              </a:rPr>
              <a:t>similar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  <a:r>
              <a:rPr lang="cs-CZ" sz="2200" dirty="0" err="1">
                <a:solidFill>
                  <a:schemeClr val="accent1"/>
                </a:solidFill>
              </a:rPr>
              <a:t>words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  <a:r>
              <a:rPr lang="cs-CZ" sz="2200" dirty="0" err="1">
                <a:solidFill>
                  <a:schemeClr val="accent1"/>
                </a:solidFill>
              </a:rPr>
              <a:t>consistent</a:t>
            </a:r>
            <a:r>
              <a:rPr lang="cs-CZ" sz="2200" dirty="0">
                <a:solidFill>
                  <a:schemeClr val="accent1"/>
                </a:solidFill>
              </a:rPr>
              <a:t> (run vs. </a:t>
            </a:r>
            <a:r>
              <a:rPr lang="cs-CZ" sz="2200" dirty="0" err="1">
                <a:solidFill>
                  <a:schemeClr val="accent1"/>
                </a:solidFill>
              </a:rPr>
              <a:t>running</a:t>
            </a:r>
            <a:r>
              <a:rPr lang="cs-CZ" sz="2200" dirty="0">
                <a:solidFill>
                  <a:schemeClr val="accent1"/>
                </a:solidFill>
              </a:rPr>
              <a:t>) </a:t>
            </a:r>
          </a:p>
          <a:p>
            <a:pPr lvl="1" indent="-336550">
              <a:buClr>
                <a:schemeClr val="accent1"/>
              </a:buClr>
              <a:buSzPts val="1700"/>
            </a:pPr>
            <a:r>
              <a:rPr lang="cs-CZ" sz="2200" b="1" dirty="0" err="1">
                <a:solidFill>
                  <a:schemeClr val="accent1"/>
                </a:solidFill>
              </a:rPr>
              <a:t>Reduce</a:t>
            </a:r>
            <a:r>
              <a:rPr lang="cs-CZ" sz="2200" b="1" dirty="0">
                <a:solidFill>
                  <a:schemeClr val="accent1"/>
                </a:solidFill>
              </a:rPr>
              <a:t> </a:t>
            </a:r>
            <a:r>
              <a:rPr lang="cs-CZ" sz="2200" b="1" dirty="0" err="1">
                <a:solidFill>
                  <a:schemeClr val="accent1"/>
                </a:solidFill>
              </a:rPr>
              <a:t>dimensionality</a:t>
            </a:r>
            <a:r>
              <a:rPr lang="cs-CZ" sz="2200" b="1" dirty="0">
                <a:solidFill>
                  <a:schemeClr val="accent1"/>
                </a:solidFill>
              </a:rPr>
              <a:t> </a:t>
            </a:r>
            <a:r>
              <a:rPr lang="cs-CZ" sz="2200" dirty="0">
                <a:solidFill>
                  <a:schemeClr val="accent1"/>
                </a:solidFill>
              </a:rPr>
              <a:t>→ </a:t>
            </a:r>
            <a:r>
              <a:rPr lang="cs-CZ" sz="2200" dirty="0" err="1">
                <a:solidFill>
                  <a:schemeClr val="accent1"/>
                </a:solidFill>
              </a:rPr>
              <a:t>smaller</a:t>
            </a:r>
            <a:r>
              <a:rPr lang="cs-CZ" sz="2200" dirty="0">
                <a:solidFill>
                  <a:schemeClr val="accent1"/>
                </a:solidFill>
              </a:rPr>
              <a:t>, </a:t>
            </a:r>
            <a:r>
              <a:rPr lang="cs-CZ" sz="2200" dirty="0" err="1">
                <a:solidFill>
                  <a:schemeClr val="accent1"/>
                </a:solidFill>
              </a:rPr>
              <a:t>cleaner</a:t>
            </a:r>
            <a:r>
              <a:rPr lang="cs-CZ" sz="2200" dirty="0">
                <a:solidFill>
                  <a:schemeClr val="accent1"/>
                </a:solidFill>
              </a:rPr>
              <a:t> </a:t>
            </a:r>
            <a:r>
              <a:rPr lang="cs-CZ" sz="2200" dirty="0" err="1">
                <a:solidFill>
                  <a:schemeClr val="accent1"/>
                </a:solidFill>
              </a:rPr>
              <a:t>vocabulary</a:t>
            </a:r>
            <a:endParaRPr lang="cs-CZ" sz="2200" dirty="0">
              <a:solidFill>
                <a:schemeClr val="accent1"/>
              </a:solidFill>
            </a:endParaRPr>
          </a:p>
          <a:p>
            <a:pPr marL="114300" indent="0">
              <a:buNone/>
            </a:pPr>
            <a:endParaRPr lang="cs-CZ" dirty="0"/>
          </a:p>
          <a:p>
            <a:pPr marL="114300" indent="0" algn="ctr">
              <a:buNone/>
            </a:pPr>
            <a:r>
              <a:rPr lang="cs-CZ" sz="2400" i="1" dirty="0">
                <a:solidFill>
                  <a:schemeClr val="bg2"/>
                </a:solidFill>
              </a:rPr>
              <a:t>I </a:t>
            </a:r>
            <a:r>
              <a:rPr lang="cs-CZ" sz="2400" i="1" dirty="0" err="1">
                <a:solidFill>
                  <a:schemeClr val="bg2"/>
                </a:solidFill>
              </a:rPr>
              <a:t>am</a:t>
            </a:r>
            <a:r>
              <a:rPr lang="cs-CZ" sz="2400" i="1" dirty="0">
                <a:solidFill>
                  <a:schemeClr val="bg2"/>
                </a:solidFill>
              </a:rPr>
              <a:t> </a:t>
            </a:r>
            <a:r>
              <a:rPr lang="cs-CZ" sz="2400" i="1" dirty="0" err="1">
                <a:solidFill>
                  <a:schemeClr val="bg2"/>
                </a:solidFill>
              </a:rPr>
              <a:t>running</a:t>
            </a:r>
            <a:r>
              <a:rPr lang="cs-CZ" sz="2400" i="1" dirty="0">
                <a:solidFill>
                  <a:schemeClr val="bg2"/>
                </a:solidFill>
              </a:rPr>
              <a:t> to a </a:t>
            </a:r>
            <a:r>
              <a:rPr lang="cs-CZ" sz="2400" i="1" dirty="0" err="1">
                <a:solidFill>
                  <a:schemeClr val="bg2"/>
                </a:solidFill>
              </a:rPr>
              <a:t>school</a:t>
            </a:r>
            <a:r>
              <a:rPr lang="cs-CZ" sz="2400" i="1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056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Common Pre-Processing Steps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</a:pPr>
            <a:r>
              <a:rPr lang="cs" sz="2000" b="1" dirty="0">
                <a:solidFill>
                  <a:schemeClr val="accent1"/>
                </a:solidFill>
              </a:rPr>
              <a:t>Lowercasing</a:t>
            </a:r>
            <a:r>
              <a:rPr lang="cs" sz="2000" dirty="0">
                <a:solidFill>
                  <a:schemeClr val="accent1"/>
                </a:solidFill>
              </a:rPr>
              <a:t>: Convert all text to lowercase</a:t>
            </a:r>
            <a:endParaRPr sz="2000" dirty="0">
              <a:solidFill>
                <a:schemeClr val="accent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cs" sz="2400" dirty="0">
                <a:solidFill>
                  <a:schemeClr val="accent1"/>
                </a:solidFill>
              </a:rPr>
              <a:t>e.g.: “Galaxy” → “galaxy”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</a:pPr>
            <a:r>
              <a:rPr lang="cs" sz="2000" b="1" dirty="0">
                <a:solidFill>
                  <a:schemeClr val="accent1"/>
                </a:solidFill>
              </a:rPr>
              <a:t>Punctuation removal</a:t>
            </a:r>
            <a:r>
              <a:rPr lang="cs" sz="2000" dirty="0">
                <a:solidFill>
                  <a:schemeClr val="accent1"/>
                </a:solidFill>
              </a:rPr>
              <a:t>: Remove symbols, commas,...</a:t>
            </a:r>
            <a:endParaRPr sz="2000" dirty="0">
              <a:solidFill>
                <a:schemeClr val="accent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cs" sz="2400" dirty="0">
                <a:solidFill>
                  <a:schemeClr val="accent1"/>
                </a:solidFill>
              </a:rPr>
              <a:t>e.g.: “far, far away...” → “far far away”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</a:pPr>
            <a:r>
              <a:rPr lang="cs" sz="2000" b="1" dirty="0">
                <a:solidFill>
                  <a:schemeClr val="accent1"/>
                </a:solidFill>
              </a:rPr>
              <a:t>Stopwords removal</a:t>
            </a:r>
            <a:r>
              <a:rPr lang="cs" sz="2000" dirty="0">
                <a:solidFill>
                  <a:schemeClr val="accent1"/>
                </a:solidFill>
              </a:rPr>
              <a:t>: Remove common words that add little meaning</a:t>
            </a:r>
            <a:endParaRPr sz="2000" dirty="0">
              <a:solidFill>
                <a:schemeClr val="accent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r>
              <a:rPr lang="cs" sz="2400" dirty="0">
                <a:solidFill>
                  <a:schemeClr val="accent1"/>
                </a:solidFill>
              </a:rPr>
              <a:t>e.g.: “in a galaxy” → “galaxy”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○"/>
            </a:pPr>
            <a:endParaRPr lang="cs" sz="2400" dirty="0">
              <a:solidFill>
                <a:schemeClr val="accent1"/>
              </a:solidFill>
            </a:endParaRPr>
          </a:p>
          <a:p>
            <a:pPr marL="590550" lvl="1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cs" sz="2400" i="1" dirty="0">
                <a:solidFill>
                  <a:schemeClr val="accent1"/>
                </a:solidFill>
              </a:rPr>
              <a:t>A long time ago in a Galaxy far, far away...</a:t>
            </a:r>
            <a:endParaRPr sz="2400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A29A-D0CE-0BA3-519C-665B6263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" dirty="0"/>
              <a:t>Common Pre-processing Steps II.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20359-B0D2-D379-1382-1827E6ABD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611864" cy="3416400"/>
          </a:xfrm>
        </p:spPr>
        <p:txBody>
          <a:bodyPr>
            <a:normAutofit/>
          </a:bodyPr>
          <a:lstStyle/>
          <a:p>
            <a:pPr lvl="0" indent="-349250">
              <a:buClr>
                <a:schemeClr val="accent1"/>
              </a:buClr>
              <a:buSzPts val="1900"/>
            </a:pPr>
            <a:r>
              <a:rPr lang="en-US" sz="2400" b="1" dirty="0">
                <a:solidFill>
                  <a:schemeClr val="accent1"/>
                </a:solidFill>
              </a:rPr>
              <a:t>Tokenization</a:t>
            </a:r>
            <a:r>
              <a:rPr lang="en-US" sz="2400" dirty="0">
                <a:solidFill>
                  <a:schemeClr val="accent1"/>
                </a:solidFill>
              </a:rPr>
              <a:t>: Split text into </a:t>
            </a:r>
            <a:r>
              <a:rPr lang="cs-CZ" sz="2400" dirty="0" err="1">
                <a:solidFill>
                  <a:schemeClr val="accent1"/>
                </a:solidFill>
              </a:rPr>
              <a:t>small</a:t>
            </a:r>
            <a:r>
              <a:rPr lang="cs-CZ" sz="2400" dirty="0">
                <a:solidFill>
                  <a:schemeClr val="accent1"/>
                </a:solidFill>
              </a:rPr>
              <a:t> </a:t>
            </a:r>
            <a:r>
              <a:rPr lang="cs-CZ" sz="2400" dirty="0" err="1">
                <a:solidFill>
                  <a:schemeClr val="accent1"/>
                </a:solidFill>
              </a:rPr>
              <a:t>units</a:t>
            </a:r>
            <a:r>
              <a:rPr lang="cs-CZ" sz="2400" dirty="0">
                <a:solidFill>
                  <a:schemeClr val="accent1"/>
                </a:solidFill>
              </a:rPr>
              <a:t> (</a:t>
            </a:r>
            <a:r>
              <a:rPr lang="cs-CZ" sz="2400" dirty="0" err="1">
                <a:solidFill>
                  <a:schemeClr val="accent1"/>
                </a:solidFill>
              </a:rPr>
              <a:t>e.g</a:t>
            </a:r>
            <a:r>
              <a:rPr lang="cs-CZ" sz="2400" dirty="0">
                <a:solidFill>
                  <a:schemeClr val="accent1"/>
                </a:solidFill>
              </a:rPr>
              <a:t>. </a:t>
            </a:r>
            <a:r>
              <a:rPr lang="en-US" sz="2400" dirty="0">
                <a:solidFill>
                  <a:schemeClr val="accent1"/>
                </a:solidFill>
              </a:rPr>
              <a:t>words/</a:t>
            </a:r>
            <a:r>
              <a:rPr lang="en-US" sz="2400" dirty="0" err="1">
                <a:solidFill>
                  <a:schemeClr val="accent1"/>
                </a:solidFill>
              </a:rPr>
              <a:t>subwords</a:t>
            </a:r>
            <a:r>
              <a:rPr lang="cs-CZ" sz="2400" dirty="0">
                <a:solidFill>
                  <a:schemeClr val="accent1"/>
                </a:solidFill>
              </a:rPr>
              <a:t>)</a:t>
            </a:r>
            <a:endParaRPr lang="en-US" sz="2400" dirty="0">
              <a:solidFill>
                <a:schemeClr val="accent1"/>
              </a:solidFill>
            </a:endParaRPr>
          </a:p>
          <a:p>
            <a:pPr lvl="1" indent="-323850">
              <a:buClr>
                <a:schemeClr val="accent1"/>
              </a:buClr>
              <a:buSzPts val="1500"/>
            </a:pPr>
            <a:r>
              <a:rPr lang="en-US" sz="2000" dirty="0">
                <a:solidFill>
                  <a:schemeClr val="accent1"/>
                </a:solidFill>
              </a:rPr>
              <a:t>e.g.: “long time ago” → [“long”, “time”, “ago”]</a:t>
            </a:r>
          </a:p>
          <a:p>
            <a:pPr lvl="0" indent="-349250">
              <a:buClr>
                <a:schemeClr val="accent1"/>
              </a:buClr>
              <a:buSzPts val="1900"/>
            </a:pPr>
            <a:r>
              <a:rPr lang="en-US" sz="2400" b="1" dirty="0">
                <a:solidFill>
                  <a:schemeClr val="accent1"/>
                </a:solidFill>
              </a:rPr>
              <a:t>Lemmatization</a:t>
            </a:r>
            <a:r>
              <a:rPr lang="en-US" sz="2400" dirty="0">
                <a:solidFill>
                  <a:schemeClr val="accent1"/>
                </a:solidFill>
              </a:rPr>
              <a:t>: Reduce words to their base form</a:t>
            </a:r>
          </a:p>
          <a:p>
            <a:pPr lvl="1" indent="-323850">
              <a:buClr>
                <a:schemeClr val="accent1"/>
              </a:buClr>
              <a:buSzPts val="1500"/>
            </a:pPr>
            <a:r>
              <a:rPr lang="en-US" sz="2000" dirty="0">
                <a:solidFill>
                  <a:schemeClr val="accent1"/>
                </a:solidFill>
              </a:rPr>
              <a:t>e.g.: “running” → “run”</a:t>
            </a:r>
            <a:endParaRPr lang="cs-CZ" sz="2000" dirty="0">
              <a:solidFill>
                <a:schemeClr val="accent1"/>
              </a:solidFill>
            </a:endParaRPr>
          </a:p>
          <a:p>
            <a:pPr indent="-323850">
              <a:buClr>
                <a:schemeClr val="accent1"/>
              </a:buClr>
              <a:buSzPts val="1500"/>
            </a:pPr>
            <a:r>
              <a:rPr lang="en-US" sz="2300" b="1" dirty="0">
                <a:solidFill>
                  <a:schemeClr val="accent1"/>
                </a:solidFill>
              </a:rPr>
              <a:t>Stemming</a:t>
            </a:r>
            <a:r>
              <a:rPr lang="cs-CZ" sz="2300" dirty="0">
                <a:solidFill>
                  <a:schemeClr val="accent1"/>
                </a:solidFill>
              </a:rPr>
              <a:t>: </a:t>
            </a:r>
            <a:r>
              <a:rPr lang="en-US" sz="2300" dirty="0">
                <a:solidFill>
                  <a:schemeClr val="accent1"/>
                </a:solidFill>
              </a:rPr>
              <a:t>Reduce words to their root form</a:t>
            </a:r>
            <a:endParaRPr lang="cs-CZ" sz="2300" dirty="0">
              <a:solidFill>
                <a:schemeClr val="accent1"/>
              </a:solidFill>
            </a:endParaRPr>
          </a:p>
          <a:p>
            <a:pPr lvl="1" indent="-323850">
              <a:buClr>
                <a:schemeClr val="accent1"/>
              </a:buClr>
              <a:buSzPts val="1500"/>
            </a:pPr>
            <a:r>
              <a:rPr lang="en-US" sz="2000" dirty="0">
                <a:solidFill>
                  <a:schemeClr val="accent1"/>
                </a:solidFill>
              </a:rPr>
              <a:t> “better“→ “bet“</a:t>
            </a:r>
            <a:endParaRPr lang="en-US" sz="1900" dirty="0">
              <a:solidFill>
                <a:schemeClr val="accent1"/>
              </a:solidFill>
            </a:endParaRPr>
          </a:p>
          <a:p>
            <a:pPr lvl="0" indent="-349250">
              <a:buClr>
                <a:schemeClr val="accent1"/>
              </a:buClr>
              <a:buSzPts val="1900"/>
            </a:pPr>
            <a:r>
              <a:rPr lang="en-US" sz="2400" b="1" dirty="0">
                <a:solidFill>
                  <a:schemeClr val="accent1"/>
                </a:solidFill>
              </a:rPr>
              <a:t>POS tagging: </a:t>
            </a:r>
            <a:r>
              <a:rPr lang="en-US" sz="2400" dirty="0">
                <a:solidFill>
                  <a:schemeClr val="accent1"/>
                </a:solidFill>
              </a:rPr>
              <a:t>Adding information about Part-of-the-speech</a:t>
            </a:r>
          </a:p>
          <a:p>
            <a:pPr lvl="1" indent="-323850">
              <a:buClr>
                <a:schemeClr val="accent1"/>
              </a:buClr>
              <a:buSzPts val="1500"/>
            </a:pPr>
            <a:r>
              <a:rPr lang="en-US" sz="2000" dirty="0">
                <a:solidFill>
                  <a:schemeClr val="accent1"/>
                </a:solidFill>
              </a:rPr>
              <a:t>e.g.: [“long”, “time”] → [“</a:t>
            </a:r>
            <a:r>
              <a:rPr lang="en-US" sz="2000" dirty="0" err="1">
                <a:solidFill>
                  <a:schemeClr val="accent1"/>
                </a:solidFill>
              </a:rPr>
              <a:t>long_ADJ</a:t>
            </a:r>
            <a:r>
              <a:rPr lang="en-US" sz="2000" dirty="0">
                <a:solidFill>
                  <a:schemeClr val="accent1"/>
                </a:solidFill>
              </a:rPr>
              <a:t>”, “</a:t>
            </a:r>
            <a:r>
              <a:rPr lang="en-US" sz="2000" dirty="0" err="1">
                <a:solidFill>
                  <a:schemeClr val="accent1"/>
                </a:solidFill>
              </a:rPr>
              <a:t>time_NOUN</a:t>
            </a:r>
            <a:r>
              <a:rPr lang="en-US" sz="2000" dirty="0">
                <a:solidFill>
                  <a:schemeClr val="accent1"/>
                </a:solidFill>
              </a:rPr>
              <a:t>”]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8922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Tokenization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b="1" dirty="0">
                <a:solidFill>
                  <a:schemeClr val="accent1"/>
                </a:solidFill>
              </a:rPr>
              <a:t>Token</a:t>
            </a:r>
            <a:r>
              <a:rPr lang="cs" sz="2000" dirty="0">
                <a:solidFill>
                  <a:schemeClr val="accent1"/>
                </a:solidFill>
              </a:rPr>
              <a:t> = the smallest unit of text, such as a word, subword or punctuation mark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b="1" dirty="0">
                <a:solidFill>
                  <a:schemeClr val="accent1"/>
                </a:solidFill>
              </a:rPr>
              <a:t>Tokenization</a:t>
            </a:r>
            <a:r>
              <a:rPr lang="cs" sz="2000" dirty="0">
                <a:solidFill>
                  <a:schemeClr val="accent1"/>
                </a:solidFill>
              </a:rPr>
              <a:t> = the process of breaking text into these units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000" dirty="0">
                <a:solidFill>
                  <a:schemeClr val="accent1"/>
                </a:solidFill>
              </a:rPr>
              <a:t>„a smart dog“ &gt;&gt; „a“, „smart“, „dog“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Token =? Word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Matter of definition: Henry V</a:t>
            </a:r>
            <a:r>
              <a:rPr lang="de-AT" sz="2000" dirty="0">
                <a:solidFill>
                  <a:schemeClr val="accent1"/>
                </a:solidFill>
              </a:rPr>
              <a:t>.</a:t>
            </a:r>
            <a:r>
              <a:rPr lang="cs" sz="2000" dirty="0">
                <a:solidFill>
                  <a:schemeClr val="accent1"/>
                </a:solidFill>
              </a:rPr>
              <a:t> = one word or two?</a:t>
            </a:r>
            <a:endParaRPr lang="de-AT" sz="2000" dirty="0">
              <a:solidFill>
                <a:schemeClr val="accent1"/>
              </a:solidFill>
            </a:endParaRPr>
          </a:p>
          <a:p>
            <a:pPr lvl="1" indent="-342900">
              <a:buClr>
                <a:schemeClr val="accent1"/>
              </a:buClr>
              <a:buSzPts val="1800"/>
              <a:buChar char="●"/>
            </a:pPr>
            <a:r>
              <a:rPr lang="de-AT" sz="2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U.S.A.</a:t>
            </a:r>
          </a:p>
          <a:p>
            <a:pPr lvl="1" indent="-342900">
              <a:buClr>
                <a:schemeClr val="accent1"/>
              </a:buClr>
              <a:buSzPts val="1800"/>
              <a:buChar char="●"/>
            </a:pPr>
            <a:r>
              <a:rPr lang="de-AT" sz="2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</a:p>
          <a:p>
            <a:pPr lvl="1" indent="-342900">
              <a:buClr>
                <a:schemeClr val="accent1"/>
              </a:buClr>
              <a:buSzPts val="1800"/>
              <a:buFont typeface="Source Sans Pro"/>
              <a:buChar char="●"/>
            </a:pPr>
            <a:r>
              <a:rPr lang="de-AT" sz="2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Rock ‘n‘ roll</a:t>
            </a:r>
          </a:p>
          <a:p>
            <a:pPr lvl="1" indent="-342900">
              <a:buClr>
                <a:schemeClr val="accent1"/>
              </a:buClr>
              <a:buSzPts val="1800"/>
              <a:buFont typeface="Source Sans Pro"/>
              <a:buChar char="●"/>
            </a:pPr>
            <a:r>
              <a:rPr lang="de-AT" sz="2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New York</a:t>
            </a:r>
            <a:endParaRPr sz="20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320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Types and Tokens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Token</a:t>
            </a:r>
            <a:r>
              <a:rPr lang="cs" sz="2400" dirty="0">
                <a:solidFill>
                  <a:schemeClr val="accent1"/>
                </a:solidFill>
              </a:rPr>
              <a:t> = every single unit in a text, individual instances</a:t>
            </a:r>
            <a:endParaRPr sz="24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Type</a:t>
            </a:r>
            <a:r>
              <a:rPr lang="cs" sz="2400" dirty="0">
                <a:solidFill>
                  <a:schemeClr val="accent1"/>
                </a:solidFill>
              </a:rPr>
              <a:t> = a dictionary of all words used in a text (all unique words in a text)</a:t>
            </a:r>
            <a:endParaRPr sz="24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Example (if token = words):</a:t>
            </a:r>
            <a:endParaRPr sz="2400" dirty="0">
              <a:solidFill>
                <a:schemeClr val="accent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b="1" i="1" dirty="0">
                <a:solidFill>
                  <a:schemeClr val="accent1"/>
                </a:solidFill>
              </a:rPr>
              <a:t>„a smart dog is using a smart phone“</a:t>
            </a:r>
            <a:endParaRPr sz="2400" b="1" i="1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Tokens: a, smart, dog, is, using, a, smart, phone</a:t>
            </a:r>
            <a:endParaRPr sz="24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Types: a, smart, dog, is, using, phone</a:t>
            </a:r>
            <a:endParaRPr sz="3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80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Exercise</a:t>
            </a:r>
            <a:endParaRPr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2000" b="1" i="1" dirty="0">
                <a:solidFill>
                  <a:schemeClr val="accent1"/>
                </a:solidFill>
              </a:rPr>
              <a:t>„a long time ago in a galaxy far, far away“</a:t>
            </a:r>
            <a:endParaRPr sz="2000" b="1" i="1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if token == word and we ignore interpunction: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How many tokens?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How many types?</a:t>
            </a:r>
            <a:br>
              <a:rPr lang="cs" sz="2000" dirty="0">
                <a:solidFill>
                  <a:schemeClr val="accent1"/>
                </a:solidFill>
              </a:rPr>
            </a:b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Tokens: a, long, time, ago, in, a, galaxy, far, far, away {10}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Types: a, long, time, ago, in, galaxy, far, away {8}</a:t>
            </a:r>
            <a:endParaRPr sz="3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solidFill>
                <a:schemeClr val="accent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901" y="61550"/>
            <a:ext cx="2465050" cy="2034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6674200" y="2156100"/>
            <a:ext cx="2294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700"/>
              <a:t>Source: https://en.wikipedia.org/wiki/Galaxy#/media/File:NGC_4414_(NASA-med).jpg</a:t>
            </a:r>
            <a:endParaRPr sz="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Tokenization</a:t>
            </a: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other units than words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In BERT – subword tokenization using WordPiece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Example of the principle: </a:t>
            </a:r>
            <a:r>
              <a:rPr lang="cs" sz="2400" i="1" dirty="0">
                <a:solidFill>
                  <a:schemeClr val="accent1"/>
                </a:solidFill>
              </a:rPr>
              <a:t>“unhappiness” → [“un”, “##happy”, “##ness”]</a:t>
            </a:r>
            <a:endParaRPr sz="2400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i="1" dirty="0">
                <a:solidFill>
                  <a:schemeClr val="accent1"/>
                </a:solidFill>
              </a:rPr>
              <a:t>“translatability” → [“translate”, “##ability”]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-CZ" sz="2400" i="1" dirty="0">
                <a:solidFill>
                  <a:schemeClr val="accent1"/>
                </a:solidFill>
              </a:rPr>
              <a:t>Out-</a:t>
            </a:r>
            <a:r>
              <a:rPr lang="cs-CZ" sz="2400" i="1" dirty="0" err="1">
                <a:solidFill>
                  <a:schemeClr val="accent1"/>
                </a:solidFill>
              </a:rPr>
              <a:t>of</a:t>
            </a:r>
            <a:r>
              <a:rPr lang="cs-CZ" sz="2400" i="1" dirty="0">
                <a:solidFill>
                  <a:schemeClr val="accent1"/>
                </a:solidFill>
              </a:rPr>
              <a:t>-</a:t>
            </a:r>
            <a:r>
              <a:rPr lang="cs-CZ" sz="2400" i="1" dirty="0" err="1">
                <a:solidFill>
                  <a:schemeClr val="accent1"/>
                </a:solidFill>
              </a:rPr>
              <a:t>vocabulary</a:t>
            </a:r>
            <a:r>
              <a:rPr lang="cs-CZ" sz="2400" i="1" dirty="0">
                <a:solidFill>
                  <a:schemeClr val="accent1"/>
                </a:solidFill>
              </a:rPr>
              <a:t> </a:t>
            </a:r>
            <a:r>
              <a:rPr lang="cs-CZ" sz="2400" i="1" dirty="0" err="1">
                <a:solidFill>
                  <a:schemeClr val="accent1"/>
                </a:solidFill>
              </a:rPr>
              <a:t>words</a:t>
            </a:r>
            <a:r>
              <a:rPr lang="cs-CZ" sz="2400" i="1" dirty="0">
                <a:solidFill>
                  <a:schemeClr val="accent1"/>
                </a:solidFill>
              </a:rPr>
              <a:t> („</a:t>
            </a:r>
            <a:r>
              <a:rPr lang="cs-CZ" sz="2400" i="1" dirty="0" err="1">
                <a:solidFill>
                  <a:schemeClr val="accent1"/>
                </a:solidFill>
              </a:rPr>
              <a:t>unforgetability</a:t>
            </a:r>
            <a:r>
              <a:rPr lang="cs-CZ" sz="2400" i="1" dirty="0">
                <a:solidFill>
                  <a:schemeClr val="accent1"/>
                </a:solidFill>
              </a:rPr>
              <a:t>“)</a:t>
            </a:r>
            <a:endParaRPr sz="2400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more information here: </a:t>
            </a:r>
            <a:r>
              <a:rPr lang="cs" sz="24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https://huggingface.co/learn/llm-course/chapter6/6</a:t>
            </a: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Frequencies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frequency of a type = how many times it appears in the document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b="1" i="1" dirty="0">
                <a:solidFill>
                  <a:schemeClr val="accent1"/>
                </a:solidFill>
              </a:rPr>
              <a:t>„a long time ago in a galaxy far, far away“</a:t>
            </a:r>
            <a:endParaRPr sz="2400" b="1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frequency of </a:t>
            </a:r>
            <a:r>
              <a:rPr lang="cs" sz="2400" b="1" i="1" dirty="0">
                <a:solidFill>
                  <a:schemeClr val="accent1"/>
                </a:solidFill>
              </a:rPr>
              <a:t>far = 2</a:t>
            </a:r>
            <a:endParaRPr sz="2400" b="1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frequency of </a:t>
            </a:r>
            <a:r>
              <a:rPr lang="cs" sz="2400" b="1" i="1" dirty="0">
                <a:solidFill>
                  <a:schemeClr val="accent1"/>
                </a:solidFill>
              </a:rPr>
              <a:t>galaxy = 1</a:t>
            </a:r>
            <a:endParaRPr sz="2400" b="1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Bag-of-Words Representation (BoW)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Bag-of-Words (BoW) is a </a:t>
            </a:r>
            <a:r>
              <a:rPr lang="cs" sz="2400" b="1" dirty="0">
                <a:solidFill>
                  <a:schemeClr val="accent1"/>
                </a:solidFill>
              </a:rPr>
              <a:t>text representation</a:t>
            </a:r>
            <a:r>
              <a:rPr lang="cs" sz="2400" dirty="0">
                <a:solidFill>
                  <a:schemeClr val="accent1"/>
                </a:solidFill>
              </a:rPr>
              <a:t> method that converts a document into a </a:t>
            </a:r>
            <a:r>
              <a:rPr lang="cs" sz="2400" b="1" dirty="0">
                <a:solidFill>
                  <a:schemeClr val="accent1"/>
                </a:solidFill>
              </a:rPr>
              <a:t>vector </a:t>
            </a:r>
            <a:r>
              <a:rPr lang="cs" sz="2400" dirty="0">
                <a:solidFill>
                  <a:schemeClr val="accent1"/>
                </a:solidFill>
              </a:rPr>
              <a:t>based on the </a:t>
            </a:r>
            <a:r>
              <a:rPr lang="cs" sz="2400" b="1" dirty="0">
                <a:solidFill>
                  <a:schemeClr val="accent1"/>
                </a:solidFill>
              </a:rPr>
              <a:t>frequency </a:t>
            </a:r>
            <a:r>
              <a:rPr lang="cs" sz="2400" dirty="0">
                <a:solidFill>
                  <a:schemeClr val="accent1"/>
                </a:solidFill>
              </a:rPr>
              <a:t>(or presence) of words, ignoring grammar and word order.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Turns the document into a matrix of types and their frequencies.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Turning text into a BoW vector = </a:t>
            </a:r>
            <a:r>
              <a:rPr lang="cs" sz="2400" b="1" dirty="0">
                <a:solidFill>
                  <a:schemeClr val="accent1"/>
                </a:solidFill>
              </a:rPr>
              <a:t>feature extraction</a:t>
            </a:r>
            <a:r>
              <a:rPr lang="cs" sz="2400" dirty="0">
                <a:solidFill>
                  <a:schemeClr val="accent1"/>
                </a:solidFill>
              </a:rPr>
              <a:t> or </a:t>
            </a:r>
            <a:r>
              <a:rPr lang="cs" sz="2400" b="1" dirty="0">
                <a:solidFill>
                  <a:schemeClr val="accent1"/>
                </a:solidFill>
              </a:rPr>
              <a:t>vectorization</a:t>
            </a:r>
            <a:r>
              <a:rPr lang="cs" sz="2400" dirty="0">
                <a:solidFill>
                  <a:schemeClr val="accent1"/>
                </a:solidFill>
              </a:rPr>
              <a:t>.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40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653D-3ADC-7159-87B5-3677292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 err="1"/>
              <a:t>Bag-of-Words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0680D-3AA4-C11A-0D00-0D5A68874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algn="ctr">
              <a:spcBef>
                <a:spcPts val="12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Corpus = [</a:t>
            </a:r>
            <a:r>
              <a:rPr lang="en-US" dirty="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"dog cat dog"</a:t>
            </a:r>
            <a:r>
              <a:rPr lang="en-US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</a:p>
          <a:p>
            <a:pPr marL="914400" lvl="0" indent="0" algn="ctr">
              <a:spcBef>
                <a:spcPts val="12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  "cat bird"</a:t>
            </a:r>
            <a:r>
              <a:rPr lang="en-US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marL="914400" lvl="0" indent="0" algn="ctr">
              <a:spcBef>
                <a:spcPts val="1200"/>
              </a:spcBef>
              <a:buNone/>
            </a:pPr>
            <a:endParaRPr lang="cs-CZ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ctr">
              <a:spcBef>
                <a:spcPts val="1200"/>
              </a:spcBef>
              <a:buNone/>
            </a:pPr>
            <a:r>
              <a:rPr lang="en-US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</a:p>
          <a:p>
            <a:pPr marL="0" lvl="0" indent="0" algn="ctr">
              <a:spcBef>
                <a:spcPts val="1200"/>
              </a:spcBef>
              <a:buNone/>
            </a:pPr>
            <a:r>
              <a:rPr lang="en-US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lang="cs-CZ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bird	cat	dog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lang="cs-CZ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r>
              <a:rPr lang="cs-CZ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	1	0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1768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BoW Creation Steps I.</a:t>
            </a:r>
            <a:endParaRPr dirty="0"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 b="1" i="1" dirty="0">
                <a:solidFill>
                  <a:schemeClr val="accent1"/>
                </a:solidFill>
              </a:rPr>
              <a:t>A long time ago in a galaxy far, far away…</a:t>
            </a:r>
            <a:endParaRPr sz="2400" b="1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</a:pPr>
            <a:r>
              <a:rPr lang="cs" sz="2400" b="1" dirty="0">
                <a:solidFill>
                  <a:schemeClr val="accent1"/>
                </a:solidFill>
              </a:rPr>
              <a:t>Tokenization</a:t>
            </a:r>
            <a:r>
              <a:rPr lang="cs" sz="2400" dirty="0">
                <a:solidFill>
                  <a:schemeClr val="accent1"/>
                </a:solidFill>
              </a:rPr>
              <a:t> (+ lowercase)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[a, long, time, ago, in, a, galaxy, far, far, away]</a:t>
            </a:r>
            <a:endParaRPr sz="2400" dirty="0">
              <a:solidFill>
                <a:schemeClr val="accent1"/>
              </a:solidFill>
            </a:endParaRPr>
          </a:p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de-AT" sz="2400" dirty="0">
                <a:solidFill>
                  <a:schemeClr val="accent1"/>
                </a:solidFill>
              </a:rPr>
              <a:t>2.    </a:t>
            </a:r>
            <a:r>
              <a:rPr lang="cs" sz="2400" b="1" dirty="0">
                <a:solidFill>
                  <a:schemeClr val="accent1"/>
                </a:solidFill>
              </a:rPr>
              <a:t>Build Vocabulary </a:t>
            </a:r>
            <a:r>
              <a:rPr lang="cs" sz="2400" dirty="0">
                <a:solidFill>
                  <a:schemeClr val="accent1"/>
                </a:solidFill>
              </a:rPr>
              <a:t>(from types = unique words)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{a, long, time, ago, in, galaxy, far, away}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BoW Creation Steps II.</a:t>
            </a:r>
            <a:endParaRPr dirty="0"/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900" b="1" dirty="0">
                <a:solidFill>
                  <a:schemeClr val="accent1"/>
                </a:solidFill>
              </a:rPr>
              <a:t>3. Count Word Frequencies	</a:t>
            </a:r>
            <a:r>
              <a:rPr lang="cs" dirty="0">
                <a:solidFill>
                  <a:schemeClr val="accent1"/>
                </a:solidFill>
              </a:rPr>
              <a:t>[a, long, time, ago, in, a, galaxy, far, far, away]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Word	Count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		2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long		1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time		1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ago		1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in		1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galaxy	</a:t>
            </a:r>
            <a:r>
              <a:rPr lang="de-AT" dirty="0">
                <a:solidFill>
                  <a:schemeClr val="accent1"/>
                </a:solidFill>
              </a:rPr>
              <a:t>                            </a:t>
            </a:r>
            <a:r>
              <a:rPr lang="cs" dirty="0">
                <a:solidFill>
                  <a:schemeClr val="accent1"/>
                </a:solidFill>
              </a:rPr>
              <a:t>1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far		2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away		1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BoW Creation Steps III.</a:t>
            </a:r>
            <a:endParaRPr dirty="0"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 b="1" dirty="0">
                <a:solidFill>
                  <a:schemeClr val="accent1"/>
                </a:solidFill>
              </a:rPr>
              <a:t>4. BoW Vector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If we order the vocabulary as: 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[a, long, time, ago, in, galaxy, far, away] 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Then the BoW vector is: 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[2, 1, 1, 1, 1, 1, 2, 1]</a:t>
            </a: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BoW Creation Steps IV.</a:t>
            </a:r>
            <a:endParaRPr dirty="0"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differently written as: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	long	time	ago 	in	galaxy	 far	 away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dirty="0">
                <a:solidFill>
                  <a:schemeClr val="accent1"/>
                </a:solidFill>
              </a:rPr>
              <a:t>2	 1	 1	1 	1	1	2	1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BoW Creation</a:t>
            </a:r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We want to add a second sentence: </a:t>
            </a:r>
            <a:r>
              <a:rPr lang="cs" sz="2400" b="1" i="1" dirty="0">
                <a:solidFill>
                  <a:schemeClr val="accent1"/>
                </a:solidFill>
              </a:rPr>
              <a:t>A galaxy is far away.</a:t>
            </a:r>
            <a:endParaRPr sz="2400" b="1" i="1" dirty="0">
              <a:solidFill>
                <a:schemeClr val="accent1"/>
              </a:solidFill>
            </a:endParaRPr>
          </a:p>
          <a:p>
            <a:pPr marL="91440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dirty="0">
                <a:solidFill>
                  <a:schemeClr val="accent1"/>
                </a:solidFill>
              </a:rPr>
              <a:t>a	long	time	ago 	in</a:t>
            </a:r>
            <a:r>
              <a:rPr lang="de-AT" dirty="0">
                <a:solidFill>
                  <a:schemeClr val="accent1"/>
                </a:solidFill>
              </a:rPr>
              <a:t>	</a:t>
            </a:r>
            <a:r>
              <a:rPr lang="cs" dirty="0">
                <a:solidFill>
                  <a:schemeClr val="accent1"/>
                </a:solidFill>
              </a:rPr>
              <a:t>galaxy	 far</a:t>
            </a:r>
            <a:r>
              <a:rPr lang="de-AT" dirty="0">
                <a:solidFill>
                  <a:schemeClr val="accent1"/>
                </a:solidFill>
              </a:rPr>
              <a:t>	</a:t>
            </a:r>
            <a:r>
              <a:rPr lang="cs" dirty="0">
                <a:solidFill>
                  <a:schemeClr val="accent1"/>
                </a:solidFill>
              </a:rPr>
              <a:t> away	is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sentence 1 </a:t>
            </a:r>
            <a:r>
              <a:rPr lang="de-AT" dirty="0">
                <a:solidFill>
                  <a:schemeClr val="accent1"/>
                </a:solidFill>
              </a:rPr>
              <a:t>       </a:t>
            </a:r>
            <a:r>
              <a:rPr lang="cs" dirty="0">
                <a:solidFill>
                  <a:schemeClr val="accent1"/>
                </a:solidFill>
              </a:rPr>
              <a:t>2	1	1	1 	1	1	2	1	0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dirty="0">
                <a:solidFill>
                  <a:schemeClr val="accent1"/>
                </a:solidFill>
              </a:rPr>
              <a:t>sentence 2</a:t>
            </a:r>
            <a:r>
              <a:rPr lang="de-AT" dirty="0">
                <a:solidFill>
                  <a:schemeClr val="accent1"/>
                </a:solidFill>
              </a:rPr>
              <a:t>        </a:t>
            </a:r>
            <a:r>
              <a:rPr lang="cs" dirty="0">
                <a:solidFill>
                  <a:schemeClr val="accent1"/>
                </a:solidFill>
              </a:rPr>
              <a:t>1	0	0	0	0	1	1	1	1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cs"/>
              <a:t>CountVectorizer </a:t>
            </a:r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In Python, CountVectorizer is a tool that turns a collection of text documents into a </a:t>
            </a:r>
            <a:r>
              <a:rPr lang="de-AT" sz="2400" dirty="0">
                <a:solidFill>
                  <a:schemeClr val="accent1"/>
                </a:solidFill>
              </a:rPr>
              <a:t>Bag-</a:t>
            </a:r>
            <a:r>
              <a:rPr lang="de-AT" sz="2400" dirty="0" err="1">
                <a:solidFill>
                  <a:schemeClr val="accent1"/>
                </a:solidFill>
              </a:rPr>
              <a:t>of</a:t>
            </a:r>
            <a:r>
              <a:rPr lang="de-AT" sz="2400" dirty="0">
                <a:solidFill>
                  <a:schemeClr val="accent1"/>
                </a:solidFill>
              </a:rPr>
              <a:t>-Words </a:t>
            </a:r>
            <a:r>
              <a:rPr lang="de-AT" sz="2400" dirty="0" err="1">
                <a:solidFill>
                  <a:schemeClr val="accent1"/>
                </a:solidFill>
              </a:rPr>
              <a:t>representation</a:t>
            </a:r>
            <a:r>
              <a:rPr lang="de-AT" sz="2400" dirty="0">
                <a:solidFill>
                  <a:schemeClr val="accent1"/>
                </a:solidFill>
              </a:rPr>
              <a:t>, i.e. </a:t>
            </a:r>
            <a:r>
              <a:rPr lang="cs" sz="2400" dirty="0">
                <a:solidFill>
                  <a:schemeClr val="accent1"/>
                </a:solidFill>
              </a:rPr>
              <a:t>matrix of token counts, showing how many times each word appears in each document.</a:t>
            </a: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 and its Parameters</a:t>
            </a:r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cs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binary</a:t>
            </a: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Frequency vs. Binary BoW</a:t>
            </a:r>
            <a:endParaRPr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 (</a:t>
            </a:r>
            <a:r>
              <a:rPr lang="cs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binary=False</a:t>
            </a: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Counts word frequencies.</a:t>
            </a:r>
            <a:b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cs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"far"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appears twice → value = 2.</a:t>
            </a:r>
            <a:b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(</a:t>
            </a:r>
            <a:r>
              <a:rPr lang="cs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binary=True</a:t>
            </a: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Marks only presence (1) or absence (0).</a:t>
            </a:r>
            <a:b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cs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"far"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appears twice = is present → value = 1.</a:t>
            </a:r>
            <a:b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👉 Use case: when </a:t>
            </a: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repetition doesn’t matter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(e.g., spam detection — presence of “buy”, “free”, “offer” is enough).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N-grams</a:t>
            </a:r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b="1" dirty="0">
                <a:solidFill>
                  <a:schemeClr val="accent1"/>
                </a:solidFill>
              </a:rPr>
              <a:t>Unigrams</a:t>
            </a:r>
            <a:r>
              <a:rPr lang="cs" dirty="0">
                <a:solidFill>
                  <a:schemeClr val="accent1"/>
                </a:solidFill>
              </a:rPr>
              <a:t>: [a, long, time, ago, in, a, galaxy, far, far, away]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b="1" dirty="0">
                <a:solidFill>
                  <a:schemeClr val="accent1"/>
                </a:solidFill>
              </a:rPr>
              <a:t>Bigrams</a:t>
            </a:r>
            <a:r>
              <a:rPr lang="cs" dirty="0">
                <a:solidFill>
                  <a:schemeClr val="accent1"/>
                </a:solidFill>
              </a:rPr>
              <a:t>: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 long, long time, time ago, ago in, in a, a galaxy, galaxy far, far far, far away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b="1" dirty="0">
                <a:solidFill>
                  <a:schemeClr val="accent1"/>
                </a:solidFill>
              </a:rPr>
              <a:t>Trigrams</a:t>
            </a:r>
            <a:r>
              <a:rPr lang="cs" dirty="0">
                <a:solidFill>
                  <a:schemeClr val="accent1"/>
                </a:solidFill>
              </a:rPr>
              <a:t>: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 long time, long time ago, time ago in, ago in a, in a galaxy, a galaxy far, galaxy far far, far far away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b="1" dirty="0">
                <a:solidFill>
                  <a:schemeClr val="accent1"/>
                </a:solidFill>
              </a:rPr>
              <a:t>4-grams</a:t>
            </a:r>
            <a:r>
              <a:rPr lang="cs" dirty="0">
                <a:solidFill>
                  <a:schemeClr val="accent1"/>
                </a:solidFill>
              </a:rPr>
              <a:t>: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a long time ago, long time ago in, time ago in a, ago in a galaxy, in a galaxy far, a galaxy far far, galaxy far far away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N-grams: Exercise</a:t>
            </a:r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5"/>
              <a:buFont typeface="Arial"/>
              <a:buNone/>
            </a:pPr>
            <a:r>
              <a:rPr lang="cs" sz="2800" b="1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solar system has eight planets.</a:t>
            </a:r>
            <a:endParaRPr sz="2800" b="1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97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AutoNum type="alphaLcParenR"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Bi-grams: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97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AutoNum type="alphaLcParenR"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Tri-grams: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5"/>
              <a:buFont typeface="Arial"/>
              <a:buNone/>
            </a:pP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5"/>
              <a:buFont typeface="Arial"/>
              <a:buNone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[„The solar“, „solar system“, „system has“, „has eight“, „eight planets“]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5"/>
              <a:buFont typeface="Arial"/>
              <a:buNone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[„The solar system", „solar system has“, „system has eight“, „has eight planets“]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ngram_range</a:t>
            </a:r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17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cs" sz="17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ngram_range</a:t>
            </a:r>
            <a:endParaRPr sz="17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17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Default: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cs" sz="17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(1,1)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unigrams only (single words).</a:t>
            </a:r>
            <a:b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17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(1,2)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unigrams </a:t>
            </a:r>
            <a:r>
              <a:rPr lang="cs" sz="17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bigrams.</a:t>
            </a:r>
            <a:b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cs" sz="17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"far away"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becomes its own token as well as “</a:t>
            </a:r>
            <a:r>
              <a:rPr lang="cs" sz="1700" dirty="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far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 and “</a:t>
            </a:r>
            <a:r>
              <a:rPr lang="cs" sz="1700" dirty="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away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b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17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(2,2)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only bigrams.</a:t>
            </a:r>
            <a:b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👉 N-grams capture </a:t>
            </a:r>
            <a:r>
              <a:rPr lang="cs" sz="17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phrases</a:t>
            </a:r>
            <a:r>
              <a:rPr lang="cs" sz="17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order — helps when word combinations carry meaning.</a:t>
            </a:r>
            <a:endParaRPr sz="17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N-Grams</a:t>
            </a:r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Why using n-grams?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i="1" dirty="0">
                <a:solidFill>
                  <a:schemeClr val="accent1"/>
                </a:solidFill>
              </a:rPr>
              <a:t>Henry V</a:t>
            </a:r>
            <a:r>
              <a:rPr lang="de-AT" sz="2400" i="1" dirty="0">
                <a:solidFill>
                  <a:schemeClr val="accent1"/>
                </a:solidFill>
              </a:rPr>
              <a:t>.</a:t>
            </a:r>
            <a:endParaRPr sz="2400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i="1" dirty="0">
                <a:solidFill>
                  <a:schemeClr val="accent1"/>
                </a:solidFill>
              </a:rPr>
              <a:t>New York</a:t>
            </a:r>
            <a:endParaRPr sz="2400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i="1" dirty="0">
                <a:solidFill>
                  <a:schemeClr val="accent1"/>
                </a:solidFill>
              </a:rPr>
              <a:t>far away</a:t>
            </a:r>
            <a:endParaRPr sz="2400" i="1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i="1" dirty="0">
                <a:solidFill>
                  <a:schemeClr val="accent1"/>
                </a:solidFill>
              </a:rPr>
              <a:t>not happy</a:t>
            </a:r>
            <a:endParaRPr sz="2400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max_features</a:t>
            </a:r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cs" sz="20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max_features</a:t>
            </a:r>
            <a:endParaRPr sz="20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Restricts vocabulary to the top </a:t>
            </a:r>
            <a:r>
              <a:rPr lang="cs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most frequent words.</a:t>
            </a:r>
            <a:b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if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max_features=5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only the 5 most common words across the corpus are kept.</a:t>
            </a:r>
            <a:b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👉 Useful for very large corpora where the full vocabulary would explode in size.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min_df and max_df</a:t>
            </a:r>
            <a:endParaRPr/>
          </a:p>
        </p:txBody>
      </p:sp>
      <p:sp>
        <p:nvSpPr>
          <p:cNvPr id="204" name="Google Shape;204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cs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min_df</a:t>
            </a: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cs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max_df</a:t>
            </a:r>
            <a:endParaRPr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cs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min_df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minimum number (or proportion) of documents a word must appear in to be included.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cs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min_df=2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ignore words that appear in only 1 document.</a:t>
            </a:r>
            <a:b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cs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max_df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maximum number (or proportion) of documents a word can appear in.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cs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max_df=0.9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ignore words that appear in more than 90% of documents (often stopwords).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👉 These help clean the vocabulary: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Drop </a:t>
            </a: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rare words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(too specific, not generalizable).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Drop </a:t>
            </a:r>
            <a:r>
              <a:rPr lang="cs" sz="16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very common words</a:t>
            </a:r>
            <a:r>
              <a:rPr lang="cs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(uninformative, e.g., “the”, “is”).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Stop Words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cs" sz="2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stop_words</a:t>
            </a:r>
            <a:endParaRPr sz="24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Removes common words (like “the”, “in”, “a”).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Built-in: </a:t>
            </a:r>
            <a:r>
              <a:rPr lang="cs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"english"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or a custom list.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prepositions, articles, pronouns…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👉 Prevents filler words from dominating the BoW.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Stop Words: Exercise</a:t>
            </a:r>
            <a:endParaRPr/>
          </a:p>
        </p:txBody>
      </p:sp>
      <p:sp>
        <p:nvSpPr>
          <p:cNvPr id="216" name="Google Shape;216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Char char="●"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Which words would you consider stop words?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Anyway, the weather will be nice.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Anyway</a:t>
            </a: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c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weather </a:t>
            </a:r>
            <a:r>
              <a:rPr lang="c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" sz="28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r>
              <a:rPr lang="c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nice.</a:t>
            </a:r>
            <a:endParaRPr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147" y="1830625"/>
            <a:ext cx="2974150" cy="29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8"/>
          <p:cNvSpPr txBox="1"/>
          <p:nvPr/>
        </p:nvSpPr>
        <p:spPr>
          <a:xfrm>
            <a:off x="5364175" y="4568875"/>
            <a:ext cx="3815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Source: https://cdn-icons-png.flaticon.com/512/10127/10127236.png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lowercase</a:t>
            </a:r>
            <a:endParaRPr/>
          </a:p>
        </p:txBody>
      </p:sp>
      <p:sp>
        <p:nvSpPr>
          <p:cNvPr id="224" name="Google Shape;22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cs" sz="2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lowercase</a:t>
            </a:r>
            <a:endParaRPr sz="24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 = </a:t>
            </a:r>
            <a:r>
              <a:rPr lang="cs" sz="20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Converts all text to lowercase → “Galaxy” = “galaxy”.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(opposite: UPPERCASE)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CountVectorizer: token_pattern</a:t>
            </a:r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lang="cs" sz="24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token_pattern</a:t>
            </a:r>
            <a:endParaRPr sz="24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Regex that defines what counts as a “word.”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Default: tokens of 2 or more alphanumeric characters ('(?u)\\b\\w\\w+\\b').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be customized to include single letters (like “a” or “I”), or handle special symbols.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 in Python</a:t>
            </a:r>
            <a:endParaRPr/>
          </a:p>
        </p:txBody>
      </p:sp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from sklearn.feature_extraction.text import CountVectorizer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import pandas as pd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docs = [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    "A long time ago in a galaxy far, far away.",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    "The galaxy is far away."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400" dirty="0">
                <a:solidFill>
                  <a:schemeClr val="accent1"/>
                </a:solidFill>
              </a:rPr>
              <a:t>]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CountVectorizer in Python</a:t>
            </a:r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# Custom CountVectorizer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vectorizer = CountVectorizer(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lowercase=True,              # convert all text to lowercase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stop_words='english',        # remove English stopwords like "the", "in"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binary=True,                 # binary bag-of-words (presence/absence)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ngram_range=(2,2),          # include only bigrams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min_df=1,                    # token must appear in at least 1 document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    max_df=0.9                   # ignore tokens appearing in &gt;90% of docs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# Fit and transform - </a:t>
            </a:r>
            <a:r>
              <a:rPr lang="cs" i="1">
                <a:solidFill>
                  <a:schemeClr val="accent1"/>
                </a:solidFill>
              </a:rPr>
              <a:t>fit </a:t>
            </a:r>
            <a:r>
              <a:rPr lang="cs">
                <a:solidFill>
                  <a:schemeClr val="accent1"/>
                </a:solidFill>
              </a:rPr>
              <a:t>to train the features dictionary and then </a:t>
            </a:r>
            <a:r>
              <a:rPr lang="cs" i="1">
                <a:solidFill>
                  <a:schemeClr val="accent1"/>
                </a:solidFill>
              </a:rPr>
              <a:t>transform </a:t>
            </a:r>
            <a:r>
              <a:rPr lang="cs">
                <a:solidFill>
                  <a:schemeClr val="accent1"/>
                </a:solidFill>
              </a:rPr>
              <a:t>to transform text into a vector: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>
                <a:solidFill>
                  <a:schemeClr val="accent1"/>
                </a:solidFill>
              </a:rPr>
              <a:t>X = vectorizer.fit_transform(docs)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cs"/>
              <a:t>CountVectorizer in Python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df = pd.DataFrame(X.toarray(), columns=vectorizer.get_feature_names_out())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print(df)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171" y="2279659"/>
            <a:ext cx="5875675" cy="11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BoW Advantages</a:t>
            </a:r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an easy representation to start with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simplicity - to understand, explain, and implement 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implementation in Python libraries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allows for certain flexibility (n-grams, lemmatization, stopwords...)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de-AT" sz="2000" dirty="0">
                <a:solidFill>
                  <a:schemeClr val="accent1"/>
                </a:solidFill>
              </a:rPr>
              <a:t>e</a:t>
            </a:r>
            <a:r>
              <a:rPr lang="cs" sz="2000" dirty="0">
                <a:solidFill>
                  <a:schemeClr val="accent1"/>
                </a:solidFill>
              </a:rPr>
              <a:t>ffective baseline - often performs surprisingly well for tasks like spam detection, sentiment analysis, or document classification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de-AT" sz="2000" dirty="0">
                <a:solidFill>
                  <a:schemeClr val="accent1"/>
                </a:solidFill>
              </a:rPr>
              <a:t>i</a:t>
            </a:r>
            <a:r>
              <a:rPr lang="cs" sz="2000" dirty="0">
                <a:solidFill>
                  <a:schemeClr val="accent1"/>
                </a:solidFill>
              </a:rPr>
              <a:t>nterpretability - features (words) are human-readable, so you can see which words drive predictions</a:t>
            </a:r>
            <a:endParaRPr sz="2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Problems with BoW</a:t>
            </a:r>
            <a:endParaRPr dirty="0"/>
          </a:p>
        </p:txBody>
      </p:sp>
      <p:sp>
        <p:nvSpPr>
          <p:cNvPr id="261" name="Google Shape;261;p45"/>
          <p:cNvSpPr txBox="1">
            <a:spLocks noGrp="1"/>
          </p:cNvSpPr>
          <p:nvPr>
            <p:ph type="body" idx="1"/>
          </p:nvPr>
        </p:nvSpPr>
        <p:spPr>
          <a:xfrm>
            <a:off x="311700" y="1068426"/>
            <a:ext cx="8520600" cy="425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BoW loses words order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BoW misses context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BoW treats all words equally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Common words might dominate just because they appear often, not because they’re informative.</a:t>
            </a:r>
            <a:endParaRPr sz="2000" dirty="0">
              <a:solidFill>
                <a:schemeClr val="accent1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Example: in a large corpus, words like “the” or “said” would drown out more meaningful words.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-CZ" sz="2000" dirty="0">
                <a:solidFill>
                  <a:schemeClr val="accent1"/>
                </a:solidFill>
              </a:rPr>
              <a:t>H</a:t>
            </a:r>
            <a:r>
              <a:rPr lang="cs" sz="2000" dirty="0">
                <a:solidFill>
                  <a:schemeClr val="accent1"/>
                </a:solidFill>
              </a:rPr>
              <a:t>igh dimensionality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-CZ" sz="2000" dirty="0" err="1">
                <a:solidFill>
                  <a:schemeClr val="accent1"/>
                </a:solidFill>
              </a:rPr>
              <a:t>Extreme</a:t>
            </a:r>
            <a:r>
              <a:rPr lang="cs-CZ" sz="2000" dirty="0">
                <a:solidFill>
                  <a:schemeClr val="accent1"/>
                </a:solidFill>
              </a:rPr>
              <a:t> matrix </a:t>
            </a:r>
            <a:r>
              <a:rPr lang="cs-CZ" sz="2000" dirty="0" err="1">
                <a:solidFill>
                  <a:schemeClr val="accent1"/>
                </a:solidFill>
              </a:rPr>
              <a:t>sparsity</a:t>
            </a:r>
            <a:r>
              <a:rPr lang="cs-CZ" sz="2000" dirty="0">
                <a:solidFill>
                  <a:schemeClr val="accent1"/>
                </a:solidFill>
              </a:rPr>
              <a:t> (most </a:t>
            </a:r>
            <a:r>
              <a:rPr lang="cs-CZ" sz="2000" dirty="0" err="1">
                <a:solidFill>
                  <a:schemeClr val="accent1"/>
                </a:solidFill>
              </a:rPr>
              <a:t>of</a:t>
            </a:r>
            <a:r>
              <a:rPr lang="cs-CZ" sz="2000" dirty="0">
                <a:solidFill>
                  <a:schemeClr val="accent1"/>
                </a:solidFill>
              </a:rPr>
              <a:t> </a:t>
            </a:r>
            <a:r>
              <a:rPr lang="cs-CZ" sz="2000" dirty="0" err="1">
                <a:solidFill>
                  <a:schemeClr val="accent1"/>
                </a:solidFill>
              </a:rPr>
              <a:t>the</a:t>
            </a:r>
            <a:r>
              <a:rPr lang="cs-CZ" sz="2000" dirty="0">
                <a:solidFill>
                  <a:schemeClr val="accent1"/>
                </a:solidFill>
              </a:rPr>
              <a:t> matrix are </a:t>
            </a:r>
            <a:r>
              <a:rPr lang="cs-CZ" sz="2000" dirty="0" err="1">
                <a:solidFill>
                  <a:schemeClr val="accent1"/>
                </a:solidFill>
              </a:rPr>
              <a:t>actually</a:t>
            </a:r>
            <a:r>
              <a:rPr lang="cs-CZ" sz="2000" dirty="0">
                <a:solidFill>
                  <a:schemeClr val="accent1"/>
                </a:solidFill>
              </a:rPr>
              <a:t> ‚0‘)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b="1" i="1" dirty="0">
                <a:solidFill>
                  <a:schemeClr val="accent1"/>
                </a:solidFill>
              </a:rPr>
              <a:t>?Do all words carry the same importance?</a:t>
            </a:r>
            <a:endParaRPr sz="2000" b="1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</a:t>
            </a:r>
            <a:endParaRPr/>
          </a:p>
        </p:txBody>
      </p:sp>
      <p:sp>
        <p:nvSpPr>
          <p:cNvPr id="267" name="Google Shape;267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Term Frequency – Inverse Document Frequency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TF</a:t>
            </a:r>
            <a:r>
              <a:rPr lang="cs" sz="2400" dirty="0">
                <a:solidFill>
                  <a:schemeClr val="accent1"/>
                </a:solidFill>
              </a:rPr>
              <a:t> = </a:t>
            </a:r>
            <a:r>
              <a:rPr lang="cs" sz="2400" b="1" dirty="0">
                <a:solidFill>
                  <a:schemeClr val="accent1"/>
                </a:solidFill>
              </a:rPr>
              <a:t>how often </a:t>
            </a:r>
            <a:r>
              <a:rPr lang="cs" sz="2400" dirty="0">
                <a:solidFill>
                  <a:schemeClr val="accent1"/>
                </a:solidFill>
              </a:rPr>
              <a:t>a term appears in a document</a:t>
            </a:r>
            <a:endParaRPr sz="2400" dirty="0">
              <a:solidFill>
                <a:schemeClr val="accent1"/>
              </a:solidFill>
            </a:endParaRP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cs" sz="2400" dirty="0">
                <a:solidFill>
                  <a:schemeClr val="accent1"/>
                </a:solidFill>
              </a:rPr>
              <a:t>the more frequently a word appears in a single document, the more important that term is to the document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 sz="2400" b="1" dirty="0">
                <a:solidFill>
                  <a:schemeClr val="accent1"/>
                </a:solidFill>
              </a:rPr>
              <a:t>IDF</a:t>
            </a:r>
            <a:r>
              <a:rPr lang="cs" sz="2400" dirty="0">
                <a:solidFill>
                  <a:schemeClr val="accent1"/>
                </a:solidFill>
              </a:rPr>
              <a:t> = how </a:t>
            </a:r>
            <a:r>
              <a:rPr lang="cs" sz="2400" b="1" dirty="0">
                <a:solidFill>
                  <a:schemeClr val="accent1"/>
                </a:solidFill>
              </a:rPr>
              <a:t>unique</a:t>
            </a:r>
            <a:r>
              <a:rPr lang="cs" sz="2400" dirty="0">
                <a:solidFill>
                  <a:schemeClr val="accent1"/>
                </a:solidFill>
              </a:rPr>
              <a:t> a term is across documents</a:t>
            </a:r>
            <a:endParaRPr sz="2400" dirty="0">
              <a:solidFill>
                <a:schemeClr val="accent1"/>
              </a:solidFill>
            </a:endParaRPr>
          </a:p>
          <a:p>
            <a:pPr marL="914400" lvl="1" indent="-336232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○"/>
            </a:pPr>
            <a:r>
              <a:rPr lang="cs" sz="2400" dirty="0">
                <a:solidFill>
                  <a:schemeClr val="accent1"/>
                </a:solidFill>
              </a:rPr>
              <a:t>words that appear more frequently in the corpus give less insight into the topic or meaning of an individual document</a:t>
            </a: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4699-008D-DD3A-18F8-D2F7A30C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TF-IDF II.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24B6D-86C0-29BB-C72F-B0D69B574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indent="-334327">
              <a:buClr>
                <a:schemeClr val="accent1"/>
              </a:buClr>
              <a:buSzPct val="100000"/>
            </a:pPr>
            <a:r>
              <a:rPr lang="en-US" sz="2400" dirty="0">
                <a:solidFill>
                  <a:schemeClr val="accent1"/>
                </a:solidFill>
              </a:rPr>
              <a:t>Combined → weights words higher if they are </a:t>
            </a:r>
            <a:r>
              <a:rPr lang="en-US" sz="2400" b="1" dirty="0">
                <a:solidFill>
                  <a:schemeClr val="accent1"/>
                </a:solidFill>
              </a:rPr>
              <a:t>frequent in one document but rare across others</a:t>
            </a:r>
          </a:p>
          <a:p>
            <a:pPr lvl="0" indent="-334327">
              <a:buClr>
                <a:schemeClr val="accent1"/>
              </a:buClr>
              <a:buSzPct val="100000"/>
            </a:pPr>
            <a:r>
              <a:rPr lang="en-US" sz="2400" dirty="0">
                <a:solidFill>
                  <a:schemeClr val="accent1"/>
                </a:solidFill>
              </a:rPr>
              <a:t>indicate how important a word is to each document in a collection of documents, or a corpus</a:t>
            </a:r>
          </a:p>
          <a:p>
            <a:pPr lvl="0" indent="-334327">
              <a:buClr>
                <a:schemeClr val="accent1"/>
              </a:buClr>
              <a:buSzPct val="100000"/>
            </a:pPr>
            <a:r>
              <a:rPr lang="en-US" sz="2400" dirty="0">
                <a:solidFill>
                  <a:schemeClr val="accent1"/>
                </a:solidFill>
              </a:rPr>
              <a:t>a higher </a:t>
            </a:r>
            <a:r>
              <a:rPr lang="cs-CZ" sz="2400" dirty="0">
                <a:solidFill>
                  <a:schemeClr val="accent1"/>
                </a:solidFill>
              </a:rPr>
              <a:t>TF</a:t>
            </a:r>
            <a:r>
              <a:rPr lang="en-US" sz="2400" dirty="0">
                <a:solidFill>
                  <a:schemeClr val="accent1"/>
                </a:solidFill>
              </a:rPr>
              <a:t>-</a:t>
            </a:r>
            <a:r>
              <a:rPr lang="cs-CZ" sz="2400" dirty="0">
                <a:solidFill>
                  <a:schemeClr val="accent1"/>
                </a:solidFill>
              </a:rPr>
              <a:t>IDF</a:t>
            </a:r>
            <a:r>
              <a:rPr lang="en-US" sz="2400" dirty="0">
                <a:solidFill>
                  <a:schemeClr val="accent1"/>
                </a:solidFill>
              </a:rPr>
              <a:t> score indicates a term is more important to the corresponding document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287527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4" name="Google Shape;27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153" y="483378"/>
            <a:ext cx="4987700" cy="38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7"/>
          <p:cNvSpPr txBox="1"/>
          <p:nvPr/>
        </p:nvSpPr>
        <p:spPr>
          <a:xfrm>
            <a:off x="2078150" y="4378200"/>
            <a:ext cx="4987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100"/>
              <a:t>source: https://mungingdata.wordpress.com/2017/11/25/episode-1-using-tf-idf-to-identify-the-signal-from-the-noise/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</a:t>
            </a:r>
            <a:endParaRPr/>
          </a:p>
        </p:txBody>
      </p:sp>
      <p:sp>
        <p:nvSpPr>
          <p:cNvPr id="281" name="Google Shape;281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400" dirty="0">
                <a:solidFill>
                  <a:schemeClr val="accent1"/>
                </a:solidFill>
              </a:rPr>
              <a:t>docs = ["A long time ago in a galaxy far, far away.",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400" dirty="0">
                <a:solidFill>
                  <a:schemeClr val="accent1"/>
                </a:solidFill>
              </a:rPr>
              <a:t>                "A planet in a different galaxy is far away."]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"galaxy"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appears in both → IDF is low → less important.</a:t>
            </a:r>
            <a:b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"long" or “planet”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appears only in one of the sentences → IDF is high → more important.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TF-IDF: Example</a:t>
            </a:r>
            <a:endParaRPr/>
          </a:p>
        </p:txBody>
      </p:sp>
      <p:sp>
        <p:nvSpPr>
          <p:cNvPr id="287" name="Google Shape;28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dirty="0">
                <a:solidFill>
                  <a:schemeClr val="accent1"/>
                </a:solidFill>
              </a:rPr>
              <a:t>example taken from: </a:t>
            </a:r>
            <a:r>
              <a:rPr lang="cs" u="sng" dirty="0">
                <a:solidFill>
                  <a:schemeClr val="hlink"/>
                </a:solidFill>
                <a:hlinkClick r:id="rId3"/>
              </a:rPr>
              <a:t>https://www.geeksforgeeks.org/machine-learning/understanding-tf-idf-term-frequency-inverse-document-frequency/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dirty="0">
                <a:solidFill>
                  <a:schemeClr val="accent1"/>
                </a:solidFill>
              </a:rPr>
              <a:t>let’s count TF-IDF for a term in 3 documents:</a:t>
            </a:r>
            <a:endParaRPr dirty="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Document 1: "The cat sat on the mat." </a:t>
            </a:r>
            <a:endParaRPr dirty="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Document 2: "The dog played in the park." </a:t>
            </a:r>
            <a:endParaRPr dirty="0">
              <a:solidFill>
                <a:schemeClr val="accent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accent1"/>
                </a:solidFill>
              </a:rPr>
              <a:t>Document 3: "Cats and dogs are great pets."</a:t>
            </a:r>
            <a:endParaRPr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dirty="0">
                <a:solidFill>
                  <a:schemeClr val="accent1"/>
                </a:solidFill>
              </a:rPr>
              <a:t>Let’s focus on the word "cat"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>
            <a:spLocks noGrp="1"/>
          </p:cNvSpPr>
          <p:nvPr>
            <p:ph type="body" idx="1"/>
          </p:nvPr>
        </p:nvSpPr>
        <p:spPr>
          <a:xfrm>
            <a:off x="311700" y="274375"/>
            <a:ext cx="8520600" cy="42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Step 1: Calculate Term Frequency (TF)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Document 1: "The </a:t>
            </a:r>
            <a:r>
              <a:rPr lang="cs" b="1">
                <a:solidFill>
                  <a:schemeClr val="accent1"/>
                </a:solidFill>
              </a:rPr>
              <a:t>cat </a:t>
            </a:r>
            <a:r>
              <a:rPr lang="cs">
                <a:solidFill>
                  <a:schemeClr val="accent1"/>
                </a:solidFill>
              </a:rPr>
              <a:t>sat on the mat." 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b="1">
                <a:solidFill>
                  <a:schemeClr val="accent1"/>
                </a:solidFill>
              </a:rPr>
              <a:t>For Document 1: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The word "cat" appears 1 time.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The total number of terms in Document 1 is 6 ("the", "cat", "sat", "on", "the", "mat").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>
                <a:solidFill>
                  <a:schemeClr val="accent1"/>
                </a:solidFill>
              </a:rPr>
              <a:t>So, TF(cat,Document 1) = 1/6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93" name="Google Shape;29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950" y="827950"/>
            <a:ext cx="7620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>
            <a:spLocks noGrp="1"/>
          </p:cNvSpPr>
          <p:nvPr>
            <p:ph type="body" idx="1"/>
          </p:nvPr>
        </p:nvSpPr>
        <p:spPr>
          <a:xfrm>
            <a:off x="311700" y="344725"/>
            <a:ext cx="8520600" cy="42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Document 2: "The dog played in the park." 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b="1">
                <a:solidFill>
                  <a:schemeClr val="accent1"/>
                </a:solidFill>
              </a:rPr>
              <a:t>For Document 2: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The word "cat" does not appear.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So, TF(cat,Document 2)=0.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>
            <a:spLocks noGrp="1"/>
          </p:cNvSpPr>
          <p:nvPr>
            <p:ph type="body" idx="1"/>
          </p:nvPr>
        </p:nvSpPr>
        <p:spPr>
          <a:xfrm>
            <a:off x="311700" y="361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Document 3: "</a:t>
            </a:r>
            <a:r>
              <a:rPr lang="cs" b="1">
                <a:solidFill>
                  <a:schemeClr val="accent1"/>
                </a:solidFill>
              </a:rPr>
              <a:t>Cats</a:t>
            </a:r>
            <a:r>
              <a:rPr lang="cs">
                <a:solidFill>
                  <a:schemeClr val="accent1"/>
                </a:solidFill>
              </a:rPr>
              <a:t> and dogs are great pets."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b="1">
                <a:solidFill>
                  <a:schemeClr val="accent1"/>
                </a:solidFill>
              </a:rPr>
              <a:t>For Document 3: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The word "cat" appears 1 time.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The total number of terms in Document 3 is 6 ("cats", "and", "dogs", "are", "great", "pets").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So TF (cat,Document 3)=1/6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>
            <a:spLocks noGrp="1"/>
          </p:cNvSpPr>
          <p:nvPr>
            <p:ph type="body" idx="1"/>
          </p:nvPr>
        </p:nvSpPr>
        <p:spPr>
          <a:xfrm>
            <a:off x="311700" y="450225"/>
            <a:ext cx="8520600" cy="4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Step 2: Calculate Inverse Document Frequency (IDF)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Total number of documents in the corpus (D): 3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>
                <a:solidFill>
                  <a:schemeClr val="accent1"/>
                </a:solidFill>
              </a:rPr>
              <a:t>Number of documents containing the term "cat": 2 (Document 1 and Document 3).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>
                <a:solidFill>
                  <a:schemeClr val="accent1"/>
                </a:solidFill>
              </a:rPr>
              <a:t>IDF(cat,D)=log 3/2 ≈ 0.176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09" name="Google Shape;30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021375"/>
            <a:ext cx="7620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4"/>
          <p:cNvSpPr txBox="1">
            <a:spLocks noGrp="1"/>
          </p:cNvSpPr>
          <p:nvPr>
            <p:ph type="body" idx="1"/>
          </p:nvPr>
        </p:nvSpPr>
        <p:spPr>
          <a:xfrm>
            <a:off x="311700" y="432650"/>
            <a:ext cx="8520600" cy="41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Step 3: Calculate TF-IDF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For Document 1: TF-IDF (cat, Document 1, D) = 0.167 * 0.176 = 0.029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For Document 2: TF-IDF(cat, Document 2, D) = 0 * 0.176 = 0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For Document 3: TF-IDF (cat, Document 3, D) = 0.167 * 0.176 = 0.029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315" name="Google Shape;31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907075"/>
            <a:ext cx="7620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 in Python</a:t>
            </a:r>
            <a:endParaRPr/>
          </a:p>
        </p:txBody>
      </p:sp>
      <p:sp>
        <p:nvSpPr>
          <p:cNvPr id="321" name="Google Shape;32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docs = ["A long time ago in a galaxy far, far away.",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    "A planet in a different galaxy is far away."]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from sklearn.feature_extraction.text import TfidfVectorizer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tfidf = TfidfVectorizer(stop_words='english')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X_tfidf = tfidf.fit_transform(docs)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>
                <a:solidFill>
                  <a:schemeClr val="accent1"/>
                </a:solidFill>
              </a:rPr>
              <a:t>pd.DataFrame(X_tfidf.toarray(), columns=tfidf.get_feature_names_out())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s" sz="13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term-document </a:t>
            </a:r>
            <a:br>
              <a:rPr lang="cs" sz="13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cs" sz="1300">
                <a:solidFill>
                  <a:srgbClr val="10162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matrix →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22" name="Google Shape;32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025" y="3949577"/>
            <a:ext cx="5829950" cy="10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 Review</a:t>
            </a:r>
            <a:endParaRPr/>
          </a:p>
        </p:txBody>
      </p:sp>
      <p:sp>
        <p:nvSpPr>
          <p:cNvPr id="328" name="Google Shape;328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Term frequency-inverse document frequency, known as TF-IDF, is a numerical statistic used to indicate how important a word is to each document in a collection of documents 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TF-IDF consists of two components, term frequency and inverse document frequency 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term frequency is how often a word appears in a document</a:t>
            </a:r>
            <a:endParaRPr lang="de-AT"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inverse document frequency is a measure of how often a word appears across all documents of a corpus </a:t>
            </a:r>
            <a:endParaRPr sz="20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000" dirty="0">
                <a:solidFill>
                  <a:schemeClr val="accent1"/>
                </a:solidFill>
              </a:rPr>
              <a:t>TF-IDF is calculated as the term frequency multiplied by the inverse document frequency</a:t>
            </a:r>
            <a:endParaRPr sz="2000" dirty="0">
              <a:solidFill>
                <a:schemeClr val="accent1"/>
              </a:solidFill>
            </a:endParaRPr>
          </a:p>
        </p:txBody>
      </p:sp>
      <p:sp>
        <p:nvSpPr>
          <p:cNvPr id="329" name="Google Shape;329;p56"/>
          <p:cNvSpPr txBox="1"/>
          <p:nvPr/>
        </p:nvSpPr>
        <p:spPr>
          <a:xfrm>
            <a:off x="3242864" y="4759061"/>
            <a:ext cx="648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900" dirty="0"/>
              <a:t>Source: https://www.codecademy.com/courses/intro-to-language-models-in-python/lessons/language-model-tf-idf/exercises/review</a:t>
            </a:r>
            <a:endParaRPr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BoW vs. TF-IDF</a:t>
            </a:r>
            <a:endParaRPr/>
          </a:p>
        </p:txBody>
      </p:sp>
      <p:sp>
        <p:nvSpPr>
          <p:cNvPr id="335" name="Google Shape;335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c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frequency only. Shared/common words can overshadow distinctive ones.</a:t>
            </a:r>
            <a:br>
              <a:rPr lang="c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4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r>
              <a:rPr lang="c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→ adjusts weights so </a:t>
            </a:r>
            <a:r>
              <a:rPr lang="cs" sz="2400" i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rare-but-informative words stand out</a:t>
            </a:r>
            <a:r>
              <a:rPr lang="cs" sz="24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TF-IDF in Applications</a:t>
            </a:r>
            <a:endParaRPr/>
          </a:p>
        </p:txBody>
      </p:sp>
      <p:sp>
        <p:nvSpPr>
          <p:cNvPr id="341" name="Google Shape;341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Ranking results in search engines</a:t>
            </a:r>
            <a:endParaRPr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257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23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TF-IDF scores help decide which documents are most relevant to a user query.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 summarization</a:t>
            </a:r>
            <a:endParaRPr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257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23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Selects the most “important” sentences or keywords by weighting unique terms higher.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Spam filtering / document classification</a:t>
            </a:r>
            <a:endParaRPr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257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3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Words like “free”, “offer”, “win” may get high TF-IDF scores in spam messages, helping classifiers.</a:t>
            </a:r>
            <a:b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Keyword extraction</a:t>
            </a:r>
            <a:endParaRPr b="1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257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23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Identify key terms that represent a document, useful for tagging or indexing.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523"/>
              <a:buNone/>
            </a:pPr>
            <a:endParaRPr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c-TF-IDF</a:t>
            </a:r>
            <a:endParaRPr/>
          </a:p>
        </p:txBody>
      </p:sp>
      <p:sp>
        <p:nvSpPr>
          <p:cNvPr id="347" name="Google Shape;347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c-TF-IDF stands for class-based TF-IDF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It’s a variation of regular TF-IDF used in BERTopic to find topic-specific keywords.</a:t>
            </a:r>
            <a:endParaRPr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c-TF-IDF</a:t>
            </a:r>
            <a:endParaRPr/>
          </a:p>
        </p:txBody>
      </p:sp>
      <p:sp>
        <p:nvSpPr>
          <p:cNvPr id="353" name="Google Shape;35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Standard TF-IDF computes word importance </a:t>
            </a: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 document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topic modeling, we </a:t>
            </a: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cluster multiple documents together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into a topic.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want words that </a:t>
            </a: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distinguish one topic from others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not just frequent words in one single document.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💡 Example: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1: Star Wars sentences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2: Planetary science sentences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Words like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„spaceship"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should stand out in Topic 1; words like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„supernova"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Topic 2.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c-TF-IDF: How it works (conceptually)</a:t>
            </a:r>
            <a:endParaRPr/>
          </a:p>
        </p:txBody>
      </p:sp>
      <p:sp>
        <p:nvSpPr>
          <p:cNvPr id="359" name="Google Shape;359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AutoNum type="arabicPeriod"/>
            </a:pP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Merge all documents in a topic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into a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“super-document”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AutoNum type="arabicPeriod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Compute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TF-IDF for each term across topics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instead of documents.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 (Term Frequency)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frequency of the term in the topic’s super-document.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IDF (Inverse Document Frequency)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log of (number of topics ÷ number of topics containing the term).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cs"/>
              <a:t>c-TF-IDF</a:t>
            </a:r>
            <a:endParaRPr/>
          </a:p>
        </p:txBody>
      </p:sp>
      <p:sp>
        <p:nvSpPr>
          <p:cNvPr id="365" name="Google Shape;365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6" name="Google Shape;3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300163"/>
            <a:ext cx="36576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2"/>
          <p:cNvSpPr txBox="1"/>
          <p:nvPr/>
        </p:nvSpPr>
        <p:spPr>
          <a:xfrm>
            <a:off x="1924200" y="3843350"/>
            <a:ext cx="5295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100"/>
              <a:t>Source: https://maartengr.github.io/BERTopic/getting_started/ctfidf/ctfidf.html</a:t>
            </a:r>
            <a:endParaRPr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cs"/>
              <a:t>c-TF-IDF: Intuition</a:t>
            </a:r>
            <a:endParaRPr/>
          </a:p>
        </p:txBody>
      </p:sp>
      <p:sp>
        <p:nvSpPr>
          <p:cNvPr id="373" name="Google Shape;373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TF → how common the word is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within the topic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IDF → reduces weight for words that appear across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topics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Outcome: words that are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representative of a topic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get high scores.</a:t>
            </a:r>
            <a:b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💡 Simple analogy: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Regular TF-IDF → “what words are important in this document?”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c-TF-IDF → “what words are important for this </a:t>
            </a:r>
            <a:r>
              <a:rPr lang="cs" sz="20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cluster of documents</a:t>
            </a:r>
            <a:r>
              <a:rPr lang="cs" sz="2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?”</a:t>
            </a:r>
            <a:endParaRPr sz="20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cs"/>
              <a:t>c-TF-IDF: Example</a:t>
            </a:r>
            <a:endParaRPr/>
          </a:p>
        </p:txBody>
      </p:sp>
      <p:sp>
        <p:nvSpPr>
          <p:cNvPr id="379" name="Google Shape;379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337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 1: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 long time ago in a galaxy far, far away."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 2: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 planet in a different galaxy is far away."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 3:</a:t>
            </a:r>
            <a:r>
              <a:rPr lang="cs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“Pluto is not a planet anymore.”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Merged per topic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1: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 long time ago in a galaxy far far away"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2: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 planet in a different galaxy is far away. Pluto is not a planet anymore.”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cs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c-TF-IDF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will highlight: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1 →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"long"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"time"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"ago"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2 →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"planet"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"different", “Pluto”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337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5"/>
              <a:buFont typeface="Arial"/>
              <a:buChar char="●"/>
            </a:pP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Shared words like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"galaxy"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"far"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cs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"away"</a:t>
            </a:r>
            <a: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get lower scores</a:t>
            </a:r>
            <a:br>
              <a:rPr lang="cs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Problems with TF-IDF</a:t>
            </a:r>
            <a:endParaRPr/>
          </a:p>
        </p:txBody>
      </p:sp>
      <p:sp>
        <p:nvSpPr>
          <p:cNvPr id="405" name="Google Shape;405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it does not understand the semantics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similar words (‘cat’ and ‘kitty’) are treated as two separate units</a:t>
            </a:r>
            <a:endParaRPr sz="2400" dirty="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homonyms (‘apple’ and ‘Apple’) are treated as identical (if lowercased)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 sz="2400" dirty="0">
                <a:solidFill>
                  <a:schemeClr val="accent1"/>
                </a:solidFill>
              </a:rPr>
              <a:t>Solution: Semantics is captured by another vector representation: </a:t>
            </a:r>
            <a:r>
              <a:rPr lang="cs" sz="2400" b="1" dirty="0">
                <a:solidFill>
                  <a:schemeClr val="accent1"/>
                </a:solidFill>
              </a:rPr>
              <a:t>semantic embeddings</a:t>
            </a:r>
            <a:endParaRPr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Revision</a:t>
            </a:r>
            <a:endParaRPr dirty="0"/>
          </a:p>
        </p:txBody>
      </p:sp>
      <p:sp>
        <p:nvSpPr>
          <p:cNvPr id="411" name="Google Shape;411;p69"/>
          <p:cNvSpPr txBox="1">
            <a:spLocks noGrp="1"/>
          </p:cNvSpPr>
          <p:nvPr>
            <p:ph type="body" idx="1"/>
          </p:nvPr>
        </p:nvSpPr>
        <p:spPr>
          <a:xfrm>
            <a:off x="311700" y="1900324"/>
            <a:ext cx="8520600" cy="3177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Clean and standardize raw text to make it suitable for analysis.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Split text into smaller units (tokens) such as words or subwords.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Count how often each token appears in a document or corpus.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Represent text as a vector of token counts, ignoring word order.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A Python implementation of BoW, with parameters for stopwords, n-grams, binary counts, and min/max document frequency.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Weight tokens by frequency in a document and rarity across documents to highlight important words.</a:t>
            </a:r>
            <a:endParaRPr dirty="0"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cs" dirty="0">
                <a:solidFill>
                  <a:schemeClr val="accent1"/>
                </a:solidFill>
              </a:rPr>
              <a:t>Compute TF-IDF across topic clusters to identify words that distinguish one topic from others.</a:t>
            </a:r>
            <a:endParaRPr dirty="0"/>
          </a:p>
        </p:txBody>
      </p:sp>
      <p:sp>
        <p:nvSpPr>
          <p:cNvPr id="412" name="Google Shape;412;p69"/>
          <p:cNvSpPr/>
          <p:nvPr/>
        </p:nvSpPr>
        <p:spPr>
          <a:xfrm>
            <a:off x="484425" y="1153625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>
                <a:latin typeface="Source Sans Pro"/>
                <a:ea typeface="Source Sans Pro"/>
                <a:cs typeface="Source Sans Pro"/>
                <a:sym typeface="Source Sans Pro"/>
              </a:rPr>
              <a:t>CountVectorizer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3" name="Google Shape;413;p69"/>
          <p:cNvSpPr/>
          <p:nvPr/>
        </p:nvSpPr>
        <p:spPr>
          <a:xfrm>
            <a:off x="2289775" y="1153625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dirty="0">
                <a:latin typeface="Source Sans Pro"/>
                <a:ea typeface="Source Sans Pro"/>
                <a:cs typeface="Source Sans Pro"/>
                <a:sym typeface="Source Sans Pro"/>
              </a:rPr>
              <a:t>TF-IDF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4" name="Google Shape;414;p69"/>
          <p:cNvSpPr/>
          <p:nvPr/>
        </p:nvSpPr>
        <p:spPr>
          <a:xfrm>
            <a:off x="3998425" y="1191725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 dirty="0">
                <a:latin typeface="Source Sans Pro"/>
                <a:ea typeface="Source Sans Pro"/>
                <a:cs typeface="Source Sans Pro"/>
                <a:sym typeface="Source Sans Pro"/>
              </a:rPr>
              <a:t>Tokenization</a:t>
            </a:r>
            <a:endParaRPr sz="1200"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5" name="Google Shape;415;p69"/>
          <p:cNvSpPr/>
          <p:nvPr/>
        </p:nvSpPr>
        <p:spPr>
          <a:xfrm>
            <a:off x="5707075" y="1191725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dirty="0">
                <a:latin typeface="Source Sans Pro"/>
                <a:ea typeface="Source Sans Pro"/>
                <a:cs typeface="Source Sans Pro"/>
                <a:sym typeface="Source Sans Pro"/>
              </a:rPr>
              <a:t>Pre-Processing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6" name="Google Shape;416;p69"/>
          <p:cNvSpPr/>
          <p:nvPr/>
        </p:nvSpPr>
        <p:spPr>
          <a:xfrm>
            <a:off x="7477250" y="1191725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dirty="0">
                <a:latin typeface="Source Sans Pro"/>
                <a:ea typeface="Source Sans Pro"/>
                <a:cs typeface="Source Sans Pro"/>
                <a:sym typeface="Source Sans Pro"/>
              </a:rPr>
              <a:t>Frequencies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7" name="Google Shape;417;p69"/>
          <p:cNvSpPr/>
          <p:nvPr/>
        </p:nvSpPr>
        <p:spPr>
          <a:xfrm>
            <a:off x="5707075" y="435100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dirty="0">
                <a:latin typeface="Source Sans Pro"/>
                <a:ea typeface="Source Sans Pro"/>
                <a:cs typeface="Source Sans Pro"/>
                <a:sym typeface="Source Sans Pro"/>
              </a:rPr>
              <a:t>c-TF-IDF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8" name="Google Shape;418;p69"/>
          <p:cNvSpPr/>
          <p:nvPr/>
        </p:nvSpPr>
        <p:spPr>
          <a:xfrm>
            <a:off x="7477250" y="435100"/>
            <a:ext cx="1450800" cy="6234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sz="1800" dirty="0">
                <a:latin typeface="Source Sans Pro"/>
                <a:ea typeface="Source Sans Pro"/>
                <a:cs typeface="Source Sans Pro"/>
                <a:sym typeface="Source Sans Pro"/>
              </a:rPr>
              <a:t>Bag-of-Words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Revision</a:t>
            </a:r>
            <a:endParaRPr dirty="0"/>
          </a:p>
        </p:txBody>
      </p:sp>
      <p:sp>
        <p:nvSpPr>
          <p:cNvPr id="424" name="Google Shape;424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Preprocessing: Clean and standardize raw text to make it suitable for analysis.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Tokenization: Split text into smaller units (tokens) such as words or subwords.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Frequencies: Count how often each token appears in a document or corpus.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Bag-of-Words (BoW): Represent text as a vector of token counts, ignoring word order.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CountVectorizer: A Python implementation of BoW, with parameters for stopwords, n-grams, binary counts, and min/max document frequency.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TF-IDF: Weight tokens by frequency in a document and rarity across documents to highlight important words.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cs">
                <a:solidFill>
                  <a:schemeClr val="accent1"/>
                </a:solidFill>
              </a:rPr>
              <a:t>c-TF-IDF: Compute TF-IDF across topic clusters to identify words that distinguish one topic from others.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9F1A9-C35D-48AD-8ACA-3A170364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Take-Aways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43110C-0997-4004-B183-616B3F5AF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is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pre-processing</a:t>
            </a:r>
            <a:r>
              <a:rPr lang="de-AT" sz="2400" dirty="0">
                <a:solidFill>
                  <a:schemeClr val="bg2"/>
                </a:solidFill>
              </a:rPr>
              <a:t> and </a:t>
            </a:r>
            <a:r>
              <a:rPr lang="de-AT" sz="2400" dirty="0" err="1">
                <a:solidFill>
                  <a:schemeClr val="bg2"/>
                </a:solidFill>
              </a:rPr>
              <a:t>why</a:t>
            </a:r>
            <a:r>
              <a:rPr lang="de-AT" sz="2400" dirty="0">
                <a:solidFill>
                  <a:schemeClr val="bg2"/>
                </a:solidFill>
              </a:rPr>
              <a:t> do </a:t>
            </a:r>
            <a:r>
              <a:rPr lang="de-AT" sz="2400" dirty="0" err="1">
                <a:solidFill>
                  <a:schemeClr val="bg2"/>
                </a:solidFill>
              </a:rPr>
              <a:t>we</a:t>
            </a:r>
            <a:r>
              <a:rPr lang="de-AT" sz="2400" dirty="0">
                <a:solidFill>
                  <a:schemeClr val="bg2"/>
                </a:solidFill>
              </a:rPr>
              <a:t> do it? </a:t>
            </a:r>
          </a:p>
          <a:p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are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types</a:t>
            </a:r>
            <a:r>
              <a:rPr lang="de-AT" sz="2400" dirty="0">
                <a:solidFill>
                  <a:schemeClr val="bg2"/>
                </a:solidFill>
              </a:rPr>
              <a:t> and </a:t>
            </a:r>
            <a:r>
              <a:rPr lang="de-AT" sz="2400" dirty="0" err="1">
                <a:solidFill>
                  <a:schemeClr val="bg2"/>
                </a:solidFill>
              </a:rPr>
              <a:t>tokens</a:t>
            </a:r>
            <a:r>
              <a:rPr lang="de-AT" sz="2400" dirty="0">
                <a:solidFill>
                  <a:schemeClr val="bg2"/>
                </a:solidFill>
              </a:rPr>
              <a:t>? </a:t>
            </a:r>
          </a:p>
          <a:p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are</a:t>
            </a:r>
            <a:r>
              <a:rPr lang="de-AT" sz="2400" dirty="0">
                <a:solidFill>
                  <a:schemeClr val="bg2"/>
                </a:solidFill>
              </a:rPr>
              <a:t> n-</a:t>
            </a:r>
            <a:r>
              <a:rPr lang="de-AT" sz="2400" dirty="0" err="1">
                <a:solidFill>
                  <a:schemeClr val="bg2"/>
                </a:solidFill>
              </a:rPr>
              <a:t>grams</a:t>
            </a:r>
            <a:r>
              <a:rPr lang="de-AT" sz="2400" dirty="0">
                <a:solidFill>
                  <a:schemeClr val="bg2"/>
                </a:solidFill>
              </a:rPr>
              <a:t>?</a:t>
            </a:r>
          </a:p>
          <a:p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is</a:t>
            </a:r>
            <a:r>
              <a:rPr lang="de-AT" sz="2400" dirty="0">
                <a:solidFill>
                  <a:schemeClr val="bg2"/>
                </a:solidFill>
              </a:rPr>
              <a:t> Bag-</a:t>
            </a:r>
            <a:r>
              <a:rPr lang="de-AT" sz="2400" dirty="0" err="1">
                <a:solidFill>
                  <a:schemeClr val="bg2"/>
                </a:solidFill>
              </a:rPr>
              <a:t>of</a:t>
            </a:r>
            <a:r>
              <a:rPr lang="de-AT" sz="2400" dirty="0">
                <a:solidFill>
                  <a:schemeClr val="bg2"/>
                </a:solidFill>
              </a:rPr>
              <a:t>-Words? </a:t>
            </a:r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is</a:t>
            </a:r>
            <a:r>
              <a:rPr lang="de-AT" sz="2400" dirty="0">
                <a:solidFill>
                  <a:schemeClr val="bg2"/>
                </a:solidFill>
              </a:rPr>
              <a:t> the </a:t>
            </a:r>
            <a:r>
              <a:rPr lang="de-AT" sz="2400" dirty="0" err="1">
                <a:solidFill>
                  <a:schemeClr val="bg2"/>
                </a:solidFill>
              </a:rPr>
              <a:t>difference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between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binary</a:t>
            </a:r>
            <a:r>
              <a:rPr lang="de-AT" sz="2400" dirty="0">
                <a:solidFill>
                  <a:schemeClr val="bg2"/>
                </a:solidFill>
              </a:rPr>
              <a:t> and </a:t>
            </a:r>
            <a:r>
              <a:rPr lang="de-AT" sz="2400" dirty="0" err="1">
                <a:solidFill>
                  <a:schemeClr val="bg2"/>
                </a:solidFill>
              </a:rPr>
              <a:t>frequency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de-AT" sz="2400" dirty="0" err="1">
                <a:solidFill>
                  <a:schemeClr val="bg2"/>
                </a:solidFill>
              </a:rPr>
              <a:t>BoW</a:t>
            </a:r>
            <a:r>
              <a:rPr lang="de-AT" sz="2400" dirty="0">
                <a:solidFill>
                  <a:schemeClr val="bg2"/>
                </a:solidFill>
              </a:rPr>
              <a:t>? </a:t>
            </a:r>
          </a:p>
          <a:p>
            <a:r>
              <a:rPr lang="de-AT" sz="2400" dirty="0" err="1">
                <a:solidFill>
                  <a:schemeClr val="bg2"/>
                </a:solidFill>
              </a:rPr>
              <a:t>What</a:t>
            </a:r>
            <a:r>
              <a:rPr lang="de-AT" sz="2400" dirty="0">
                <a:solidFill>
                  <a:schemeClr val="bg2"/>
                </a:solidFill>
              </a:rPr>
              <a:t> </a:t>
            </a:r>
            <a:r>
              <a:rPr lang="cs-CZ" sz="2400" dirty="0" err="1">
                <a:solidFill>
                  <a:schemeClr val="bg2"/>
                </a:solidFill>
              </a:rPr>
              <a:t>does</a:t>
            </a:r>
            <a:r>
              <a:rPr lang="de-AT" sz="2400" dirty="0">
                <a:solidFill>
                  <a:schemeClr val="bg2"/>
                </a:solidFill>
              </a:rPr>
              <a:t> TF-IDF</a:t>
            </a:r>
            <a:r>
              <a:rPr lang="cs-CZ" sz="2400" dirty="0">
                <a:solidFill>
                  <a:schemeClr val="bg2"/>
                </a:solidFill>
              </a:rPr>
              <a:t> do</a:t>
            </a:r>
            <a:r>
              <a:rPr lang="de-AT" sz="2400" dirty="0">
                <a:solidFill>
                  <a:schemeClr val="bg2"/>
                </a:solidFill>
              </a:rPr>
              <a:t>? </a:t>
            </a:r>
          </a:p>
          <a:p>
            <a:endParaRPr lang="de-AT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7923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/>
              <a:t>Want to learn more?</a:t>
            </a:r>
            <a:endParaRPr dirty="0"/>
          </a:p>
        </p:txBody>
      </p:sp>
      <p:sp>
        <p:nvSpPr>
          <p:cNvPr id="430" name="Google Shape;430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>
                <a:solidFill>
                  <a:schemeClr val="accent1"/>
                </a:solidFill>
              </a:rPr>
              <a:t>Vectorizers: </a:t>
            </a:r>
            <a:r>
              <a:rPr lang="cs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https://maartengr.github.io/BERTopic/getting_started/vectorizers/vectorizers.html</a:t>
            </a:r>
            <a:endParaRPr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>
                <a:solidFill>
                  <a:schemeClr val="accent1"/>
                </a:solidFill>
              </a:rPr>
              <a:t>c-TF-IDF: </a:t>
            </a:r>
            <a:r>
              <a:rPr lang="cs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https://maartengr.github.io/BERTopic/getting_started/ctfidf/ctfidf.html</a:t>
            </a:r>
            <a:endParaRPr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>
                <a:solidFill>
                  <a:schemeClr val="accent1"/>
                </a:solidFill>
              </a:rPr>
              <a:t>BERT Tokenization: </a:t>
            </a:r>
            <a:r>
              <a:rPr lang="cs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https://huggingface.co/learn/llm-course/chapter6/6</a:t>
            </a:r>
            <a:endParaRPr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>
                <a:solidFill>
                  <a:schemeClr val="accent1"/>
                </a:solidFill>
              </a:rPr>
              <a:t>interactive course aout BoW, TF-IDF and embeddings: </a:t>
            </a:r>
            <a:r>
              <a:rPr lang="cs" u="sng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https://www.codecademy.com/enrolled/courses/intro-to-language-models-in-python</a:t>
            </a:r>
            <a:r>
              <a:rPr lang="cs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●"/>
            </a:pPr>
            <a:r>
              <a:rPr lang="cs">
                <a:solidFill>
                  <a:schemeClr val="accent1"/>
                </a:solidFill>
              </a:rPr>
              <a:t>TF-IDF: </a:t>
            </a:r>
            <a:r>
              <a:rPr lang="cs" u="sng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https://www.geeksforgeeks.org/machine-learning/understanding-tf-idf-term-frequency-inverse-document-frequency/</a:t>
            </a:r>
            <a:r>
              <a:rPr lang="cs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/>
              <a:t>Thank you</a:t>
            </a:r>
            <a:endParaRPr/>
          </a:p>
        </p:txBody>
      </p:sp>
      <p:sp>
        <p:nvSpPr>
          <p:cNvPr id="436" name="Google Shape;436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s">
                <a:solidFill>
                  <a:schemeClr val="accent1"/>
                </a:solidFill>
              </a:rPr>
              <a:t>klara.venglarova@uni-graz.at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37" name="Google Shape;4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38" y="1837238"/>
            <a:ext cx="187642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0" y="1652625"/>
            <a:ext cx="20002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4001" y="2331175"/>
            <a:ext cx="2741174" cy="9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3940</Words>
  <Application>Microsoft Office PowerPoint</Application>
  <PresentationFormat>On-screen Show (16:9)</PresentationFormat>
  <Paragraphs>404</Paragraphs>
  <Slides>63</Slides>
  <Notes>56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Roboto</vt:lpstr>
      <vt:lpstr>Source Sans Pro</vt:lpstr>
      <vt:lpstr>Raleway</vt:lpstr>
      <vt:lpstr>Roboto Mono</vt:lpstr>
      <vt:lpstr>Plum</vt:lpstr>
      <vt:lpstr>Tokenization and Weighting</vt:lpstr>
      <vt:lpstr>Outline</vt:lpstr>
      <vt:lpstr>Where are we and Why?</vt:lpstr>
      <vt:lpstr>PowerPoint Presentation</vt:lpstr>
      <vt:lpstr>Text Pre-Processing in NLP</vt:lpstr>
      <vt:lpstr>Text Pre-Processing in NLP: Why?</vt:lpstr>
      <vt:lpstr>Common Pre-Processing Steps</vt:lpstr>
      <vt:lpstr>Common Pre-processing Steps II.</vt:lpstr>
      <vt:lpstr>Tokenization</vt:lpstr>
      <vt:lpstr>Types and Tokens</vt:lpstr>
      <vt:lpstr>Exercise</vt:lpstr>
      <vt:lpstr>Tokenization</vt:lpstr>
      <vt:lpstr>Frequencies</vt:lpstr>
      <vt:lpstr>Bag-of-Words Representation (BoW)</vt:lpstr>
      <vt:lpstr>Bag-of-Words</vt:lpstr>
      <vt:lpstr>BoW Creation Steps I.</vt:lpstr>
      <vt:lpstr>BoW Creation Steps II.</vt:lpstr>
      <vt:lpstr>BoW Creation Steps III.</vt:lpstr>
      <vt:lpstr>BoW Creation Steps IV.</vt:lpstr>
      <vt:lpstr>BoW Creation</vt:lpstr>
      <vt:lpstr>CountVectorizer </vt:lpstr>
      <vt:lpstr>CountVectorizer and its Parameters</vt:lpstr>
      <vt:lpstr>N-grams</vt:lpstr>
      <vt:lpstr>N-grams: Exercise</vt:lpstr>
      <vt:lpstr>CountVectorizer: ngram_range</vt:lpstr>
      <vt:lpstr>N-Grams</vt:lpstr>
      <vt:lpstr>CountVectorizer: max_features</vt:lpstr>
      <vt:lpstr>CountVectorizer: min_df and max_df</vt:lpstr>
      <vt:lpstr>CountVectorizer: Stop Words</vt:lpstr>
      <vt:lpstr>Stop Words: Exercise</vt:lpstr>
      <vt:lpstr>CountVectorizer: lowercase</vt:lpstr>
      <vt:lpstr>CountVectorizer: token_pattern</vt:lpstr>
      <vt:lpstr>CountVectorizer in Python</vt:lpstr>
      <vt:lpstr>CountVectorizer in Python</vt:lpstr>
      <vt:lpstr>CountVectorizer in Python </vt:lpstr>
      <vt:lpstr>BoW Advantages</vt:lpstr>
      <vt:lpstr>Problems with BoW</vt:lpstr>
      <vt:lpstr>TF-IDF</vt:lpstr>
      <vt:lpstr>TF-IDF II.</vt:lpstr>
      <vt:lpstr>PowerPoint Presentation</vt:lpstr>
      <vt:lpstr>TF-IDF</vt:lpstr>
      <vt:lpstr>TF-IDF: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TF-IDF in Python</vt:lpstr>
      <vt:lpstr>TF-IDF Review</vt:lpstr>
      <vt:lpstr>BoW vs. TF-IDF</vt:lpstr>
      <vt:lpstr>TF-IDF in Applications</vt:lpstr>
      <vt:lpstr>c-TF-IDF</vt:lpstr>
      <vt:lpstr>c-TF-IDF</vt:lpstr>
      <vt:lpstr>c-TF-IDF: How it works (conceptually)</vt:lpstr>
      <vt:lpstr>c-TF-IDF</vt:lpstr>
      <vt:lpstr>c-TF-IDF: Intuition</vt:lpstr>
      <vt:lpstr>c-TF-IDF: Example</vt:lpstr>
      <vt:lpstr>Problems with TF-IDF</vt:lpstr>
      <vt:lpstr>Revision</vt:lpstr>
      <vt:lpstr>Revision</vt:lpstr>
      <vt:lpstr>Take-Aways</vt:lpstr>
      <vt:lpstr>Want to learn more?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Tokenization and Weighting</dc:title>
  <cp:lastModifiedBy>Venglarova, Klara (klara.venglarova@uni-graz.at)</cp:lastModifiedBy>
  <cp:revision>39</cp:revision>
  <dcterms:modified xsi:type="dcterms:W3CDTF">2026-09-22T09:47:18Z</dcterms:modified>
</cp:coreProperties>
</file>